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KubeQuest, le déploiement d'un cluster Kubernetes production-grade sur AWS. L'application hébergée est volontairement triviale, un simple compteur. Toute la valeur du projet est dans l'infrastructure et l'outillage professionnel autour. Je suis COT_1, et voici la soutenance.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L'objectif est triple. D'abord, déployer un vrai cluster Kubernetes en conditions de production. Ensuite, monter toute la chaîne d'administration professionnelle : GitOps, CI/CD, observabilité, sécurité. Enfin, y faire tourner une application conteneurisée. J'insiste : le compteur Laravel est trivial par choix. Ce que le jury doit évaluer, c'est la machinerie d'infrastructure, pas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L'infrastructure repose sur quatre nœuds AWS. kube-1 est le control-plane, il fait aussi worker, et porte une IP Elastic fixe. kube-2 est un worker simple, pour la charge applicative. Le nœud ingress héberge le nginx dédié, isolé par un taint pour qu'aucun autre pod n'y atterrisse. Le nœud monitoring porte toute la stack d'observabilité, également isolé par taint. Cette séparation par rôle est volontaire : elle évite que la supervision ou l'entrée réseau ne soient impactées par la charge applicative.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stack technique, par couche. Orchestration : K3s, une distribution Kubernetes légère adaptée à des petites VMs. Packaging : Helm et Kustomize pour décrire les déploiements. GitOps : ArgoCD. CI/CD : GitHub Actions. Observabilité : Prometheus, Grafana et Loki. Sécurité : OPA Gatekeeper pour les policies, Dex et oauth2-proxy pour l'authentification. Réseau : nginx-ingress. Données : MySQL via le chart Bitnami. Chaque outil est standard de l'écosystème, rien d'exotique.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projet, c'est GitOps avec ArgoCD. Le principe : Git est la seule source de vérité. L'état désiré du cluster est décrit dans le dépôt, et ArgoCD réconcilie en permanence l'état réel vers cet état désiré. On ne fait plus de kubectl apply à la main. Le modèle est à deux branches. La branche main correspond au staging : synchronisation automatique, tout changement part directement. La branche prod correspond à la production : synchronisation manuelle, avec un gate humain. Aucun déploiement en production sans validation explicite.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chaîne CI/CD est portée par GitHub Actions. Un push de code déclenche le build de l'image Docker, en ARM64 puisque les VMs AWS sont sur architecture ARM. L'image est poussée sur le registry avec un tag immuable : le SHA du commit, jamais 'latest'. Ensuite le pipeline bumpe ce tag dans le dépôt Git de configuration. Et c'est ce changement dans Git qui déclenche ArgoCD pour déployer. On boucle ainsi proprement avec le GitOps : le pipeline ne touche jamais le cluster directement, il ne fait que mettre à jour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Kubernetes, j'ai appliqué les bonnes pratiques de production. Requests et limits sur chaque pod pour cadrer la consommation CPU et mémoire. Sondes liveness et readiness pour que Kubernetes sache redémarrer ou retirer du trafic un pod défaillant. HPA pour l'autoscaling horizontal sous charge. podAntiAffinity pour répartir les répliques sur des nœuds différents, donc de la redondance. Les secrets sont gérés proprement. Les sauvegardes de la base sont automatisées par un CronJob. Et les mises à jour se font en rolling update, sans interruption de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repose sur deux piliers. D'abord OPA Gatekeeper : c'est un validating webhook qui inspecte chaque pod avant son admission dans le cluster. Il refuse les pods privileged, ceux sans labels obligatoires, et ceux sans limites de ressources définies. Les règles de sécurité sont donc imposées par le cluster lui-même, pas par la discipline des développeurs. Ensuite, l'authentification : l'accès aux interfaces d'administration passe par OIDC, avec Dex comme fournisseur d'identité et oauth2-proxy en façade. Personne n'accède aux dashboards sans s'authentifier.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L'observabilité couvre les trois piliers classiques. Prometheus collecte les métriques : usage CPU, mémoire, état des pods, latences. Grafana visualise tout ça dans des dashboards. Et Loki centralise les logs, collectés sur chaque nœud par Promtail. Concrètement, en cas d'incident, j'ai les métriques pour détecter, les dashboards pour comprendre, et les logs pour diagnostiquer — le tout sur le nœud monitoring dédié et isolé.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maintenant à la démo live. Je vais montrer quatre choses. Un : l'auto-scaling — je mets l'application sous charge et on voit le HPA créer des répliques. Deux : le rollback automatique — je déploie volontairement une version cassée, et le système revient à la version saine. Trois : OPA en action — je tente de déployer un pod interdit, et Gatekeeper le refuse en direct. Quatre : un changement de domaine entièrement en GitOps — je modifie une valeur dans Git et ArgoCD applique le changement. Passons à l'écran.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montre la maturité ops : des incidents réels, diagnostiqués et résolus. ArgoCD restait en Sync Unknown — il manquait le flag enable-helm pour les charts. Un sous-chart MySQL était absent de Git, je l'ai versionné. MySQL tombait en ImagePullBackOff parce que Bitnami a purgé Docker Hub en 2025 — j'ai repointé sur le dépôt bitnamilegacy. Un conflit d'Ingress entre un ancien déploiement manuel et le GitOps, résolu par une migration propre. Et les migrations de base de données ne sont pas gérées par le chart — à terme, ce sera un Helm hook. Chaque incident a été compris à la racine, pas contourné.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 honnêteté intellectuelle, voici les limites. J'assume des points de défaillance unique. Le control-plane est unique, avec un backend SQLite. L'ingress tourne en une seule réplique. MySQL est sur stockage local, non répliqué. Ce sont des SPOF assumés pour le périmètre du projet. Les vraies solutions de production sont connues : trois control-planes en cluster etcd, plusieurs répliques d'ingress, du stockage répliqué, et une Elastic IP ou un load-balancer managé. Je sais où sont les fragilités et comment les lever — c'était hors-scope ici, pas hors de portée.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KubeQuest démontre la maîtrise d'une chaîne d'infrastructure complète et moderne : GitOps avec ArgoCD, CI/CD automatisée, sécurité imposée par le cluster, et observabilité sur les trois piliers. L'application est triviale, mais tout l'outillage autour est de niveau production. Les apprentissages clés : penser l'infrastructure comme du code versionné, ne jamais toucher le cluster à la main, et diagnostiquer les incidents à la racine. Merci, je suis prêt pour vos questions et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à votre disposition pour vos questions, et prêt à enchaîner sur la démo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1028700" y="762000"/>
            <a:ext cx="3309253" cy="333375"/>
          </a:xfrm>
          <a:prstGeom prst="rect">
            <a:avLst/>
          </a:prstGeom>
          <a:noFill/>
          <a:ln/>
        </p:spPr>
        <p:txBody>
          <a:bodyPr wrap="square" lIns="25400" tIns="25400" rIns="25400" bIns="25400" rtlCol="0" anchor="t">
            <a:normAutofit/>
          </a:bodyPr>
          <a:lstStyle/>
          <a:p>
            <a:pPr algn="l" indent="0" marL="0">
              <a:buNone/>
            </a:pPr>
            <a:r>
              <a:rPr lang="en-US" sz="1575" spc="221" kern="0" dirty="0">
                <a:solidFill>
                  <a:srgbClr val="9A9AA0"/>
                </a:solidFill>
                <a:latin typeface="Space Mono" pitchFamily="34" charset="0"/>
                <a:ea typeface="Space Mono" pitchFamily="34" charset="-122"/>
                <a:cs typeface="Space Mono" pitchFamily="34" charset="-120"/>
              </a:rPr>
              <a:t>EPITECH · SOUTENANCE</a:t>
            </a:r>
            <a:endParaRPr lang="en-US" sz="1575" dirty="0"/>
          </a:p>
        </p:txBody>
      </p:sp>
      <p:sp>
        <p:nvSpPr>
          <p:cNvPr id="3" name="Text 1"/>
          <p:cNvSpPr/>
          <p:nvPr/>
        </p:nvSpPr>
        <p:spPr>
          <a:xfrm>
            <a:off x="16206341" y="762000"/>
            <a:ext cx="1129159" cy="333375"/>
          </a:xfrm>
          <a:prstGeom prst="rect">
            <a:avLst/>
          </a:prstGeom>
          <a:noFill/>
          <a:ln/>
        </p:spPr>
        <p:txBody>
          <a:bodyPr wrap="square" lIns="25400" tIns="25400" rIns="25400" bIns="25400" rtlCol="0" anchor="t">
            <a:normAutofit/>
          </a:bodyPr>
          <a:lstStyle/>
          <a:p>
            <a:pPr algn="l" indent="0" marL="0">
              <a:buNone/>
            </a:pPr>
            <a:r>
              <a:rPr lang="en-US" sz="1575" spc="221" kern="0" dirty="0">
                <a:solidFill>
                  <a:srgbClr val="9A9AA0"/>
                </a:solidFill>
                <a:latin typeface="Space Mono" pitchFamily="34" charset="0"/>
                <a:ea typeface="Space Mono" pitchFamily="34" charset="-122"/>
                <a:cs typeface="Space Mono" pitchFamily="34" charset="-120"/>
              </a:rPr>
              <a:t>01 / 13</a:t>
            </a:r>
            <a:endParaRPr lang="en-US" sz="1575" dirty="0"/>
          </a:p>
        </p:txBody>
      </p:sp>
      <p:sp>
        <p:nvSpPr>
          <p:cNvPr id="4" name="Text 2"/>
          <p:cNvSpPr/>
          <p:nvPr/>
        </p:nvSpPr>
        <p:spPr>
          <a:xfrm>
            <a:off x="1028700" y="3670027"/>
            <a:ext cx="17853660" cy="376238"/>
          </a:xfrm>
          <a:prstGeom prst="rect">
            <a:avLst/>
          </a:prstGeom>
          <a:noFill/>
          <a:ln/>
        </p:spPr>
        <p:txBody>
          <a:bodyPr wrap="square" lIns="25400" tIns="25400" rIns="25400" bIns="25400" rtlCol="0" anchor="t">
            <a:normAutofit/>
          </a:bodyPr>
          <a:lstStyle/>
          <a:p>
            <a:pPr algn="l" indent="0" marL="0">
              <a:buNone/>
            </a:pPr>
            <a:r>
              <a:rPr lang="en-US" sz="1800" spc="540" kern="0" dirty="0">
                <a:solidFill>
                  <a:srgbClr val="9A9AA0"/>
                </a:solidFill>
                <a:latin typeface="Space Mono" pitchFamily="34" charset="0"/>
                <a:ea typeface="Space Mono" pitchFamily="34" charset="-122"/>
                <a:cs typeface="Space Mono" pitchFamily="34" charset="-120"/>
              </a:rPr>
              <a:t>$ kubectl apply -f kubequest</a:t>
            </a:r>
            <a:endParaRPr lang="en-US" sz="1800" dirty="0"/>
          </a:p>
        </p:txBody>
      </p:sp>
      <p:sp>
        <p:nvSpPr>
          <p:cNvPr id="5" name="Text 3"/>
          <p:cNvSpPr/>
          <p:nvPr/>
        </p:nvSpPr>
        <p:spPr>
          <a:xfrm>
            <a:off x="1028700" y="4236765"/>
            <a:ext cx="17853660" cy="1527795"/>
          </a:xfrm>
          <a:prstGeom prst="rect">
            <a:avLst/>
          </a:prstGeom>
          <a:noFill/>
          <a:ln/>
        </p:spPr>
        <p:txBody>
          <a:bodyPr wrap="square" lIns="25400" tIns="25400" rIns="25400" bIns="25400" rtlCol="0" anchor="t">
            <a:normAutofit/>
          </a:bodyPr>
          <a:lstStyle/>
          <a:p>
            <a:pPr algn="l" indent="0" marL="0">
              <a:lnSpc>
                <a:spcPct val="92000"/>
              </a:lnSpc>
              <a:buNone/>
            </a:pPr>
            <a:r>
              <a:rPr lang="en-US" sz="12750" b="1" spc="-510" kern="0" dirty="0">
                <a:solidFill>
                  <a:srgbClr val="FFFFFF"/>
                </a:solidFill>
                <a:latin typeface="Space Grotesk" pitchFamily="34" charset="0"/>
                <a:ea typeface="Space Grotesk" pitchFamily="34" charset="-122"/>
                <a:cs typeface="Space Grotesk" pitchFamily="34" charset="-120"/>
              </a:rPr>
              <a:t>KUBEQUEST</a:t>
            </a:r>
            <a:endParaRPr lang="en-US" sz="12750" dirty="0"/>
          </a:p>
        </p:txBody>
      </p:sp>
      <p:sp>
        <p:nvSpPr>
          <p:cNvPr id="6" name="Text 4"/>
          <p:cNvSpPr/>
          <p:nvPr/>
        </p:nvSpPr>
        <p:spPr>
          <a:xfrm>
            <a:off x="1028700" y="6012210"/>
            <a:ext cx="17853660" cy="571500"/>
          </a:xfrm>
          <a:prstGeom prst="rect">
            <a:avLst/>
          </a:prstGeom>
          <a:noFill/>
          <a:ln/>
        </p:spPr>
        <p:txBody>
          <a:bodyPr wrap="square" lIns="25400" tIns="25400" rIns="25400" bIns="25400" rtlCol="0" anchor="t">
            <a:normAutofit/>
          </a:bodyPr>
          <a:lstStyle/>
          <a:p>
            <a:pPr algn="l" indent="0" marL="0">
              <a:buNone/>
            </a:pPr>
            <a:r>
              <a:rPr lang="en-US" sz="2850" spc="57" kern="0" dirty="0">
                <a:solidFill>
                  <a:srgbClr val="C9C9CF"/>
                </a:solidFill>
                <a:latin typeface="Space Mono" pitchFamily="34" charset="0"/>
                <a:ea typeface="Space Mono" pitchFamily="34" charset="-122"/>
                <a:cs typeface="Space Mono" pitchFamily="34" charset="-120"/>
              </a:rPr>
              <a:t>Sailing through the clouds</a:t>
            </a:r>
            <a:endParaRPr lang="en-US" sz="2850" dirty="0"/>
          </a:p>
        </p:txBody>
      </p:sp>
      <p:sp>
        <p:nvSpPr>
          <p:cNvPr id="7" name="Text 5"/>
          <p:cNvSpPr/>
          <p:nvPr/>
        </p:nvSpPr>
        <p:spPr>
          <a:xfrm>
            <a:off x="1028700" y="9158288"/>
            <a:ext cx="834033" cy="4048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Space Mono" pitchFamily="34" charset="0"/>
                <a:ea typeface="Space Mono" pitchFamily="34" charset="-122"/>
                <a:cs typeface="Space Mono" pitchFamily="34" charset="-120"/>
              </a:rPr>
              <a:t>COT_1</a:t>
            </a:r>
            <a:endParaRPr lang="en-US" sz="1950" dirty="0"/>
          </a:p>
        </p:txBody>
      </p:sp>
      <p:sp>
        <p:nvSpPr>
          <p:cNvPr id="8" name="Text 6"/>
          <p:cNvSpPr/>
          <p:nvPr/>
        </p:nvSpPr>
        <p:spPr>
          <a:xfrm>
            <a:off x="11045205" y="9158288"/>
            <a:ext cx="6835505" cy="404813"/>
          </a:xfrm>
          <a:prstGeom prst="rect">
            <a:avLst/>
          </a:prstGeom>
          <a:noFill/>
          <a:ln/>
        </p:spPr>
        <p:txBody>
          <a:bodyPr wrap="square" lIns="25400" tIns="25400" rIns="25400" bIns="25400" rtlCol="0" anchor="t">
            <a:normAutofit/>
          </a:bodyPr>
          <a:lstStyle/>
          <a:p>
            <a:pPr algn="l" indent="0" marL="0">
              <a:buNone/>
            </a:pPr>
            <a:r>
              <a:rPr lang="en-US" sz="1950" dirty="0">
                <a:solidFill>
                  <a:srgbClr val="9A9AA0"/>
                </a:solidFill>
                <a:latin typeface="Space Mono" pitchFamily="34" charset="0"/>
                <a:ea typeface="Space Mono" pitchFamily="34" charset="-122"/>
                <a:cs typeface="Space Mono" pitchFamily="34" charset="-120"/>
              </a:rPr>
              <a:t>Cluster Kubernetes production-grade · AWS</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MISSION</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02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Mission &amp; objectifs</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Shape 4"/>
          <p:cNvSpPr/>
          <p:nvPr/>
        </p:nvSpPr>
        <p:spPr>
          <a:xfrm>
            <a:off x="1028700" y="4648721"/>
            <a:ext cx="5181600" cy="28575"/>
          </a:xfrm>
          <a:prstGeom prst="rect">
            <a:avLst/>
          </a:prstGeom>
          <a:solidFill>
            <a:srgbClr val="0B0B0C"/>
          </a:solidFill>
          <a:ln/>
        </p:spPr>
      </p:sp>
      <p:sp>
        <p:nvSpPr>
          <p:cNvPr id="7" name="Text 5"/>
          <p:cNvSpPr/>
          <p:nvPr/>
        </p:nvSpPr>
        <p:spPr>
          <a:xfrm>
            <a:off x="1028700" y="4905896"/>
            <a:ext cx="569976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01</a:t>
            </a:r>
            <a:endParaRPr lang="en-US" sz="1950" dirty="0"/>
          </a:p>
        </p:txBody>
      </p:sp>
      <p:sp>
        <p:nvSpPr>
          <p:cNvPr id="8" name="Text 6"/>
          <p:cNvSpPr/>
          <p:nvPr/>
        </p:nvSpPr>
        <p:spPr>
          <a:xfrm>
            <a:off x="1028700" y="5444058"/>
            <a:ext cx="5337048" cy="83820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0B0B0C"/>
                </a:solidFill>
                <a:latin typeface="Space Grotesk" pitchFamily="34" charset="0"/>
                <a:ea typeface="Space Grotesk" pitchFamily="34" charset="-122"/>
                <a:cs typeface="Space Grotesk" pitchFamily="34" charset="-120"/>
              </a:rPr>
              <a:t>Cluster K8s production-grade</a:t>
            </a:r>
            <a:endParaRPr lang="en-US" sz="3000" dirty="0"/>
          </a:p>
        </p:txBody>
      </p:sp>
      <p:sp>
        <p:nvSpPr>
          <p:cNvPr id="9" name="Text 7"/>
          <p:cNvSpPr/>
          <p:nvPr/>
        </p:nvSpPr>
        <p:spPr>
          <a:xfrm>
            <a:off x="1028700" y="6396558"/>
            <a:ext cx="5337048"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73737A"/>
                </a:solidFill>
                <a:latin typeface="Space Grotesk" pitchFamily="34" charset="0"/>
                <a:ea typeface="Space Grotesk" pitchFamily="34" charset="-122"/>
                <a:cs typeface="Space Grotesk" pitchFamily="34" charset="-120"/>
              </a:rPr>
              <a:t>Un cluster réel sur AWS, conçu et exploité comme en production.</a:t>
            </a:r>
            <a:endParaRPr lang="en-US" sz="1950" dirty="0"/>
          </a:p>
        </p:txBody>
      </p:sp>
      <p:sp>
        <p:nvSpPr>
          <p:cNvPr id="10" name="Shape 8"/>
          <p:cNvSpPr/>
          <p:nvPr/>
        </p:nvSpPr>
        <p:spPr>
          <a:xfrm>
            <a:off x="6553200" y="4648721"/>
            <a:ext cx="5181600" cy="28575"/>
          </a:xfrm>
          <a:prstGeom prst="rect">
            <a:avLst/>
          </a:prstGeom>
          <a:solidFill>
            <a:srgbClr val="0B0B0C"/>
          </a:solidFill>
          <a:ln/>
        </p:spPr>
      </p:sp>
      <p:sp>
        <p:nvSpPr>
          <p:cNvPr id="11" name="Text 9"/>
          <p:cNvSpPr/>
          <p:nvPr/>
        </p:nvSpPr>
        <p:spPr>
          <a:xfrm>
            <a:off x="6553200" y="4905896"/>
            <a:ext cx="569976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02</a:t>
            </a:r>
            <a:endParaRPr lang="en-US" sz="1950" dirty="0"/>
          </a:p>
        </p:txBody>
      </p:sp>
      <p:sp>
        <p:nvSpPr>
          <p:cNvPr id="12" name="Text 10"/>
          <p:cNvSpPr/>
          <p:nvPr/>
        </p:nvSpPr>
        <p:spPr>
          <a:xfrm>
            <a:off x="6553200" y="5444058"/>
            <a:ext cx="569976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0B0B0C"/>
                </a:solidFill>
                <a:latin typeface="Space Grotesk" pitchFamily="34" charset="0"/>
                <a:ea typeface="Space Grotesk" pitchFamily="34" charset="-122"/>
                <a:cs typeface="Space Grotesk" pitchFamily="34" charset="-120"/>
              </a:rPr>
              <a:t>Outillage d'administration</a:t>
            </a:r>
            <a:endParaRPr lang="en-US" sz="3000" dirty="0"/>
          </a:p>
        </p:txBody>
      </p:sp>
      <p:sp>
        <p:nvSpPr>
          <p:cNvPr id="13" name="Text 11"/>
          <p:cNvSpPr/>
          <p:nvPr/>
        </p:nvSpPr>
        <p:spPr>
          <a:xfrm>
            <a:off x="6553200" y="5996508"/>
            <a:ext cx="5337048"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73737A"/>
                </a:solidFill>
                <a:latin typeface="Space Grotesk" pitchFamily="34" charset="0"/>
                <a:ea typeface="Space Grotesk" pitchFamily="34" charset="-122"/>
                <a:cs typeface="Space Grotesk" pitchFamily="34" charset="-120"/>
              </a:rPr>
              <a:t>GitOps, CI/CD, observabilité et sécurité, intégrés de bout en bout.</a:t>
            </a:r>
            <a:endParaRPr lang="en-US" sz="1950" dirty="0"/>
          </a:p>
        </p:txBody>
      </p:sp>
      <p:sp>
        <p:nvSpPr>
          <p:cNvPr id="14" name="Shape 12"/>
          <p:cNvSpPr/>
          <p:nvPr/>
        </p:nvSpPr>
        <p:spPr>
          <a:xfrm>
            <a:off x="12077700" y="4648721"/>
            <a:ext cx="5181600" cy="28575"/>
          </a:xfrm>
          <a:prstGeom prst="rect">
            <a:avLst/>
          </a:prstGeom>
          <a:solidFill>
            <a:srgbClr val="0B0B0C"/>
          </a:solidFill>
          <a:ln/>
        </p:spPr>
      </p:sp>
      <p:sp>
        <p:nvSpPr>
          <p:cNvPr id="15" name="Text 13"/>
          <p:cNvSpPr/>
          <p:nvPr/>
        </p:nvSpPr>
        <p:spPr>
          <a:xfrm>
            <a:off x="12077700" y="4905896"/>
            <a:ext cx="569976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03</a:t>
            </a:r>
            <a:endParaRPr lang="en-US" sz="1950" dirty="0"/>
          </a:p>
        </p:txBody>
      </p:sp>
      <p:sp>
        <p:nvSpPr>
          <p:cNvPr id="16" name="Text 14"/>
          <p:cNvSpPr/>
          <p:nvPr/>
        </p:nvSpPr>
        <p:spPr>
          <a:xfrm>
            <a:off x="12077700" y="5444058"/>
            <a:ext cx="569976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0B0B0C"/>
                </a:solidFill>
                <a:latin typeface="Space Grotesk" pitchFamily="34" charset="0"/>
                <a:ea typeface="Space Grotesk" pitchFamily="34" charset="-122"/>
                <a:cs typeface="Space Grotesk" pitchFamily="34" charset="-120"/>
              </a:rPr>
              <a:t>Application conteneurisée</a:t>
            </a:r>
            <a:endParaRPr lang="en-US" sz="3000" dirty="0"/>
          </a:p>
        </p:txBody>
      </p:sp>
      <p:sp>
        <p:nvSpPr>
          <p:cNvPr id="17" name="Text 15"/>
          <p:cNvSpPr/>
          <p:nvPr/>
        </p:nvSpPr>
        <p:spPr>
          <a:xfrm>
            <a:off x="12077700" y="5996508"/>
            <a:ext cx="5337048"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73737A"/>
                </a:solidFill>
                <a:latin typeface="Space Grotesk" pitchFamily="34" charset="0"/>
                <a:ea typeface="Space Grotesk" pitchFamily="34" charset="-122"/>
                <a:cs typeface="Space Grotesk" pitchFamily="34" charset="-120"/>
              </a:rPr>
              <a:t>Un compteur Laravel — trivial par choix. La valeur est dans l'infra.</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219323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INFRASTRUCTURE</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03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Architecture : 4 nœuds AWS</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Text 4"/>
          <p:cNvSpPr/>
          <p:nvPr/>
        </p:nvSpPr>
        <p:spPr>
          <a:xfrm>
            <a:off x="1028700" y="4390058"/>
            <a:ext cx="17853660" cy="404813"/>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73737A"/>
                </a:solidFill>
                <a:latin typeface="Space Mono" pitchFamily="34" charset="0"/>
                <a:ea typeface="Space Mono" pitchFamily="34" charset="-122"/>
                <a:cs typeface="Space Mono" pitchFamily="34" charset="-120"/>
              </a:rPr>
              <a:t>AWS · région unique</a:t>
            </a:r>
            <a:endParaRPr lang="en-US" sz="1950" dirty="0"/>
          </a:p>
        </p:txBody>
      </p:sp>
      <p:sp>
        <p:nvSpPr>
          <p:cNvPr id="7" name="Shape 5"/>
          <p:cNvSpPr/>
          <p:nvPr/>
        </p:nvSpPr>
        <p:spPr>
          <a:xfrm>
            <a:off x="1028700" y="4966320"/>
            <a:ext cx="3871913" cy="1897335"/>
          </a:xfrm>
          <a:prstGeom prst="rect">
            <a:avLst/>
          </a:prstGeom>
          <a:ln w="28575">
            <a:solidFill>
              <a:srgbClr val="0B0B0C"/>
            </a:solidFill>
            <a:prstDash val="solid"/>
          </a:ln>
        </p:spPr>
      </p:sp>
      <p:sp>
        <p:nvSpPr>
          <p:cNvPr id="8" name="Text 6"/>
          <p:cNvSpPr/>
          <p:nvPr/>
        </p:nvSpPr>
        <p:spPr>
          <a:xfrm>
            <a:off x="1304925" y="5280645"/>
            <a:ext cx="3651409" cy="461963"/>
          </a:xfrm>
          <a:prstGeom prst="rect">
            <a:avLst/>
          </a:prstGeom>
          <a:noFill/>
          <a:ln/>
        </p:spPr>
        <p:txBody>
          <a:bodyPr wrap="square" lIns="25400" tIns="25400" rIns="25400" bIns="25400" rtlCol="0" anchor="t">
            <a:normAutofit/>
          </a:bodyPr>
          <a:lstStyle/>
          <a:p>
            <a:pPr algn="l" indent="0" marL="0">
              <a:buNone/>
            </a:pPr>
            <a:r>
              <a:rPr lang="en-US" sz="2250" b="1" dirty="0">
                <a:solidFill>
                  <a:srgbClr val="0B0B0C"/>
                </a:solidFill>
                <a:latin typeface="Space Mono" pitchFamily="34" charset="0"/>
                <a:ea typeface="Space Mono" pitchFamily="34" charset="-122"/>
                <a:cs typeface="Space Mono" pitchFamily="34" charset="-120"/>
              </a:rPr>
              <a:t>kube-1</a:t>
            </a:r>
            <a:endParaRPr lang="en-US" sz="2250" dirty="0"/>
          </a:p>
        </p:txBody>
      </p:sp>
      <p:sp>
        <p:nvSpPr>
          <p:cNvPr id="9" name="Text 7"/>
          <p:cNvSpPr/>
          <p:nvPr/>
        </p:nvSpPr>
        <p:spPr>
          <a:xfrm>
            <a:off x="1304925" y="5837858"/>
            <a:ext cx="3651409"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0B0B0C"/>
                </a:solidFill>
                <a:latin typeface="Space Grotesk" pitchFamily="34" charset="0"/>
                <a:ea typeface="Space Grotesk" pitchFamily="34" charset="-122"/>
                <a:cs typeface="Space Grotesk" pitchFamily="34" charset="-120"/>
              </a:rPr>
              <a:t>Control-plane + worker</a:t>
            </a:r>
            <a:endParaRPr lang="en-US" sz="1950" dirty="0"/>
          </a:p>
        </p:txBody>
      </p:sp>
      <p:sp>
        <p:nvSpPr>
          <p:cNvPr id="10" name="Text 8"/>
          <p:cNvSpPr/>
          <p:nvPr/>
        </p:nvSpPr>
        <p:spPr>
          <a:xfrm>
            <a:off x="1304925" y="6268343"/>
            <a:ext cx="3651409" cy="319088"/>
          </a:xfrm>
          <a:prstGeom prst="rect">
            <a:avLst/>
          </a:prstGeom>
          <a:noFill/>
          <a:ln/>
        </p:spPr>
        <p:txBody>
          <a:bodyPr wrap="square" lIns="25400" tIns="25400" rIns="25400" bIns="25400" rtlCol="0" anchor="t">
            <a:normAutofit/>
          </a:bodyPr>
          <a:lstStyle/>
          <a:p>
            <a:pPr algn="l" indent="0" marL="0">
              <a:buNone/>
            </a:pPr>
            <a:r>
              <a:rPr lang="en-US" sz="1500" dirty="0">
                <a:solidFill>
                  <a:srgbClr val="73737A"/>
                </a:solidFill>
                <a:latin typeface="Space Mono" pitchFamily="34" charset="0"/>
                <a:ea typeface="Space Mono" pitchFamily="34" charset="-122"/>
                <a:cs typeface="Space Mono" pitchFamily="34" charset="-120"/>
              </a:rPr>
              <a:t>Elastic IP fixe</a:t>
            </a:r>
            <a:endParaRPr lang="en-US" sz="1500" dirty="0"/>
          </a:p>
        </p:txBody>
      </p:sp>
      <p:sp>
        <p:nvSpPr>
          <p:cNvPr id="11" name="Shape 9"/>
          <p:cNvSpPr/>
          <p:nvPr/>
        </p:nvSpPr>
        <p:spPr>
          <a:xfrm>
            <a:off x="5148263" y="4966320"/>
            <a:ext cx="3871913" cy="1897335"/>
          </a:xfrm>
          <a:prstGeom prst="rect">
            <a:avLst/>
          </a:prstGeom>
          <a:ln w="14288">
            <a:solidFill>
              <a:srgbClr val="0B0B0C"/>
            </a:solidFill>
            <a:prstDash val="solid"/>
          </a:ln>
        </p:spPr>
      </p:sp>
      <p:sp>
        <p:nvSpPr>
          <p:cNvPr id="12" name="Text 10"/>
          <p:cNvSpPr/>
          <p:nvPr/>
        </p:nvSpPr>
        <p:spPr>
          <a:xfrm>
            <a:off x="5410200" y="5266358"/>
            <a:ext cx="3682841" cy="461963"/>
          </a:xfrm>
          <a:prstGeom prst="rect">
            <a:avLst/>
          </a:prstGeom>
          <a:noFill/>
          <a:ln/>
        </p:spPr>
        <p:txBody>
          <a:bodyPr wrap="square" lIns="25400" tIns="25400" rIns="25400" bIns="25400" rtlCol="0" anchor="t">
            <a:normAutofit/>
          </a:bodyPr>
          <a:lstStyle/>
          <a:p>
            <a:pPr algn="l" indent="0" marL="0">
              <a:buNone/>
            </a:pPr>
            <a:r>
              <a:rPr lang="en-US" sz="2250" b="1" dirty="0">
                <a:solidFill>
                  <a:srgbClr val="0B0B0C"/>
                </a:solidFill>
                <a:latin typeface="Space Mono" pitchFamily="34" charset="0"/>
                <a:ea typeface="Space Mono" pitchFamily="34" charset="-122"/>
                <a:cs typeface="Space Mono" pitchFamily="34" charset="-120"/>
              </a:rPr>
              <a:t>kube-2</a:t>
            </a:r>
            <a:endParaRPr lang="en-US" sz="2250" dirty="0"/>
          </a:p>
        </p:txBody>
      </p:sp>
      <p:sp>
        <p:nvSpPr>
          <p:cNvPr id="13" name="Text 11"/>
          <p:cNvSpPr/>
          <p:nvPr/>
        </p:nvSpPr>
        <p:spPr>
          <a:xfrm>
            <a:off x="5410200" y="5823570"/>
            <a:ext cx="3682841"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0B0B0C"/>
                </a:solidFill>
                <a:latin typeface="Space Grotesk" pitchFamily="34" charset="0"/>
                <a:ea typeface="Space Grotesk" pitchFamily="34" charset="-122"/>
                <a:cs typeface="Space Grotesk" pitchFamily="34" charset="-120"/>
              </a:rPr>
              <a:t>Worker</a:t>
            </a:r>
            <a:endParaRPr lang="en-US" sz="1950" dirty="0"/>
          </a:p>
        </p:txBody>
      </p:sp>
      <p:sp>
        <p:nvSpPr>
          <p:cNvPr id="14" name="Text 12"/>
          <p:cNvSpPr/>
          <p:nvPr/>
        </p:nvSpPr>
        <p:spPr>
          <a:xfrm>
            <a:off x="5410200" y="6282630"/>
            <a:ext cx="3682841" cy="319088"/>
          </a:xfrm>
          <a:prstGeom prst="rect">
            <a:avLst/>
          </a:prstGeom>
          <a:noFill/>
          <a:ln/>
        </p:spPr>
        <p:txBody>
          <a:bodyPr wrap="square" lIns="25400" tIns="25400" rIns="25400" bIns="25400" rtlCol="0" anchor="t">
            <a:normAutofit/>
          </a:bodyPr>
          <a:lstStyle/>
          <a:p>
            <a:pPr algn="l" indent="0" marL="0">
              <a:buNone/>
            </a:pPr>
            <a:r>
              <a:rPr lang="en-US" sz="1500" dirty="0">
                <a:solidFill>
                  <a:srgbClr val="73737A"/>
                </a:solidFill>
                <a:latin typeface="Space Mono" pitchFamily="34" charset="0"/>
                <a:ea typeface="Space Mono" pitchFamily="34" charset="-122"/>
                <a:cs typeface="Space Mono" pitchFamily="34" charset="-120"/>
              </a:rPr>
              <a:t>Charge applicative</a:t>
            </a:r>
            <a:endParaRPr lang="en-US" sz="1500" dirty="0"/>
          </a:p>
        </p:txBody>
      </p:sp>
      <p:sp>
        <p:nvSpPr>
          <p:cNvPr id="15" name="Shape 13"/>
          <p:cNvSpPr/>
          <p:nvPr/>
        </p:nvSpPr>
        <p:spPr>
          <a:xfrm>
            <a:off x="9267825" y="4966320"/>
            <a:ext cx="3871913" cy="1897335"/>
          </a:xfrm>
          <a:prstGeom prst="rect">
            <a:avLst/>
          </a:prstGeom>
          <a:ln w="14288">
            <a:solidFill>
              <a:srgbClr val="0B0B0C"/>
            </a:solidFill>
            <a:prstDash val="solid"/>
          </a:ln>
        </p:spPr>
      </p:sp>
      <p:sp>
        <p:nvSpPr>
          <p:cNvPr id="16" name="Text 14"/>
          <p:cNvSpPr/>
          <p:nvPr/>
        </p:nvSpPr>
        <p:spPr>
          <a:xfrm>
            <a:off x="9529763" y="5266358"/>
            <a:ext cx="3682841" cy="461963"/>
          </a:xfrm>
          <a:prstGeom prst="rect">
            <a:avLst/>
          </a:prstGeom>
          <a:noFill/>
          <a:ln/>
        </p:spPr>
        <p:txBody>
          <a:bodyPr wrap="square" lIns="25400" tIns="25400" rIns="25400" bIns="25400" rtlCol="0" anchor="t">
            <a:normAutofit/>
          </a:bodyPr>
          <a:lstStyle/>
          <a:p>
            <a:pPr algn="l" indent="0" marL="0">
              <a:buNone/>
            </a:pPr>
            <a:r>
              <a:rPr lang="en-US" sz="2250" b="1" dirty="0">
                <a:solidFill>
                  <a:srgbClr val="0B0B0C"/>
                </a:solidFill>
                <a:latin typeface="Space Mono" pitchFamily="34" charset="0"/>
                <a:ea typeface="Space Mono" pitchFamily="34" charset="-122"/>
                <a:cs typeface="Space Mono" pitchFamily="34" charset="-120"/>
              </a:rPr>
              <a:t>ingress</a:t>
            </a:r>
            <a:endParaRPr lang="en-US" sz="2250" dirty="0"/>
          </a:p>
        </p:txBody>
      </p:sp>
      <p:sp>
        <p:nvSpPr>
          <p:cNvPr id="17" name="Text 15"/>
          <p:cNvSpPr/>
          <p:nvPr/>
        </p:nvSpPr>
        <p:spPr>
          <a:xfrm>
            <a:off x="9529763" y="5823570"/>
            <a:ext cx="3682841"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0B0B0C"/>
                </a:solidFill>
                <a:latin typeface="Space Grotesk" pitchFamily="34" charset="0"/>
                <a:ea typeface="Space Grotesk" pitchFamily="34" charset="-122"/>
                <a:cs typeface="Space Grotesk" pitchFamily="34" charset="-120"/>
              </a:rPr>
              <a:t>nginx dédié</a:t>
            </a:r>
            <a:endParaRPr lang="en-US" sz="1950" dirty="0"/>
          </a:p>
        </p:txBody>
      </p:sp>
      <p:sp>
        <p:nvSpPr>
          <p:cNvPr id="18" name="Text 16"/>
          <p:cNvSpPr/>
          <p:nvPr/>
        </p:nvSpPr>
        <p:spPr>
          <a:xfrm>
            <a:off x="9529763" y="6282630"/>
            <a:ext cx="3682841" cy="319088"/>
          </a:xfrm>
          <a:prstGeom prst="rect">
            <a:avLst/>
          </a:prstGeom>
          <a:noFill/>
          <a:ln/>
        </p:spPr>
        <p:txBody>
          <a:bodyPr wrap="square" lIns="25400" tIns="25400" rIns="25400" bIns="25400" rtlCol="0" anchor="t">
            <a:normAutofit/>
          </a:bodyPr>
          <a:lstStyle/>
          <a:p>
            <a:pPr algn="l" indent="0" marL="0">
              <a:buNone/>
            </a:pPr>
            <a:r>
              <a:rPr lang="en-US" sz="1500" dirty="0">
                <a:solidFill>
                  <a:srgbClr val="73737A"/>
                </a:solidFill>
                <a:latin typeface="Space Mono" pitchFamily="34" charset="0"/>
                <a:ea typeface="Space Mono" pitchFamily="34" charset="-122"/>
                <a:cs typeface="Space Mono" pitchFamily="34" charset="-120"/>
              </a:rPr>
              <a:t>isolé · taint</a:t>
            </a:r>
            <a:endParaRPr lang="en-US" sz="1500" dirty="0"/>
          </a:p>
        </p:txBody>
      </p:sp>
      <p:sp>
        <p:nvSpPr>
          <p:cNvPr id="19" name="Shape 17"/>
          <p:cNvSpPr/>
          <p:nvPr/>
        </p:nvSpPr>
        <p:spPr>
          <a:xfrm>
            <a:off x="13387388" y="4966320"/>
            <a:ext cx="3871913" cy="1897335"/>
          </a:xfrm>
          <a:prstGeom prst="rect">
            <a:avLst/>
          </a:prstGeom>
          <a:ln w="14288">
            <a:solidFill>
              <a:srgbClr val="0B0B0C"/>
            </a:solidFill>
            <a:prstDash val="solid"/>
          </a:ln>
        </p:spPr>
      </p:sp>
      <p:sp>
        <p:nvSpPr>
          <p:cNvPr id="20" name="Text 18"/>
          <p:cNvSpPr/>
          <p:nvPr/>
        </p:nvSpPr>
        <p:spPr>
          <a:xfrm>
            <a:off x="13649325" y="5266358"/>
            <a:ext cx="3682841" cy="461963"/>
          </a:xfrm>
          <a:prstGeom prst="rect">
            <a:avLst/>
          </a:prstGeom>
          <a:noFill/>
          <a:ln/>
        </p:spPr>
        <p:txBody>
          <a:bodyPr wrap="square" lIns="25400" tIns="25400" rIns="25400" bIns="25400" rtlCol="0" anchor="t">
            <a:normAutofit/>
          </a:bodyPr>
          <a:lstStyle/>
          <a:p>
            <a:pPr algn="l" indent="0" marL="0">
              <a:buNone/>
            </a:pPr>
            <a:r>
              <a:rPr lang="en-US" sz="2250" b="1" dirty="0">
                <a:solidFill>
                  <a:srgbClr val="0B0B0C"/>
                </a:solidFill>
                <a:latin typeface="Space Mono" pitchFamily="34" charset="0"/>
                <a:ea typeface="Space Mono" pitchFamily="34" charset="-122"/>
                <a:cs typeface="Space Mono" pitchFamily="34" charset="-120"/>
              </a:rPr>
              <a:t>monitoring</a:t>
            </a:r>
            <a:endParaRPr lang="en-US" sz="2250" dirty="0"/>
          </a:p>
        </p:txBody>
      </p:sp>
      <p:sp>
        <p:nvSpPr>
          <p:cNvPr id="21" name="Text 19"/>
          <p:cNvSpPr/>
          <p:nvPr/>
        </p:nvSpPr>
        <p:spPr>
          <a:xfrm>
            <a:off x="13649325" y="5823570"/>
            <a:ext cx="3682841"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0B0B0C"/>
                </a:solidFill>
                <a:latin typeface="Space Grotesk" pitchFamily="34" charset="0"/>
                <a:ea typeface="Space Grotesk" pitchFamily="34" charset="-122"/>
                <a:cs typeface="Space Grotesk" pitchFamily="34" charset="-120"/>
              </a:rPr>
              <a:t>Stack observabilité</a:t>
            </a:r>
            <a:endParaRPr lang="en-US" sz="1950" dirty="0"/>
          </a:p>
        </p:txBody>
      </p:sp>
      <p:sp>
        <p:nvSpPr>
          <p:cNvPr id="22" name="Text 20"/>
          <p:cNvSpPr/>
          <p:nvPr/>
        </p:nvSpPr>
        <p:spPr>
          <a:xfrm>
            <a:off x="13649325" y="6282630"/>
            <a:ext cx="3682841" cy="319088"/>
          </a:xfrm>
          <a:prstGeom prst="rect">
            <a:avLst/>
          </a:prstGeom>
          <a:noFill/>
          <a:ln/>
        </p:spPr>
        <p:txBody>
          <a:bodyPr wrap="square" lIns="25400" tIns="25400" rIns="25400" bIns="25400" rtlCol="0" anchor="t">
            <a:normAutofit/>
          </a:bodyPr>
          <a:lstStyle/>
          <a:p>
            <a:pPr algn="l" indent="0" marL="0">
              <a:buNone/>
            </a:pPr>
            <a:r>
              <a:rPr lang="en-US" sz="1500" dirty="0">
                <a:solidFill>
                  <a:srgbClr val="73737A"/>
                </a:solidFill>
                <a:latin typeface="Space Mono" pitchFamily="34" charset="0"/>
                <a:ea typeface="Space Mono" pitchFamily="34" charset="-122"/>
                <a:cs typeface="Space Mono" pitchFamily="34" charset="-120"/>
              </a:rPr>
              <a:t>isolé · taint</a:t>
            </a:r>
            <a:endParaRPr lang="en-US" sz="1500" dirty="0"/>
          </a:p>
        </p:txBody>
      </p:sp>
      <p:sp>
        <p:nvSpPr>
          <p:cNvPr id="23" name="Text 21"/>
          <p:cNvSpPr/>
          <p:nvPr/>
        </p:nvSpPr>
        <p:spPr>
          <a:xfrm>
            <a:off x="1028700" y="7092255"/>
            <a:ext cx="17853660" cy="319088"/>
          </a:xfrm>
          <a:prstGeom prst="rect">
            <a:avLst/>
          </a:prstGeom>
          <a:noFill/>
          <a:ln/>
        </p:spPr>
        <p:txBody>
          <a:bodyPr wrap="square" lIns="25400" tIns="25400" rIns="25400" bIns="25400" rtlCol="0" anchor="t">
            <a:normAutofit/>
          </a:bodyPr>
          <a:lstStyle/>
          <a:p>
            <a:pPr algn="l" indent="0" marL="0">
              <a:buNone/>
            </a:pPr>
            <a:r>
              <a:rPr lang="en-US" sz="1500" dirty="0">
                <a:solidFill>
                  <a:srgbClr val="9A9AA0"/>
                </a:solidFill>
                <a:latin typeface="Space Mono" pitchFamily="34" charset="0"/>
                <a:ea typeface="Space Mono" pitchFamily="34" charset="-122"/>
                <a:cs typeface="Space Mono" pitchFamily="34" charset="-120"/>
              </a:rPr>
              <a:t>Séparation des rôles par taints — entrée réseau et supervision isolées de la charge.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788343"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STACK</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04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Stack technique</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Shape 4"/>
          <p:cNvSpPr/>
          <p:nvPr/>
        </p:nvSpPr>
        <p:spPr>
          <a:xfrm>
            <a:off x="1028700" y="4307681"/>
            <a:ext cx="7810500" cy="9525"/>
          </a:xfrm>
          <a:prstGeom prst="rect">
            <a:avLst/>
          </a:prstGeom>
          <a:solidFill>
            <a:srgbClr val="DCDCDC"/>
          </a:solidFill>
          <a:ln/>
        </p:spPr>
      </p:sp>
      <p:sp>
        <p:nvSpPr>
          <p:cNvPr id="7" name="Text 5"/>
          <p:cNvSpPr/>
          <p:nvPr/>
        </p:nvSpPr>
        <p:spPr>
          <a:xfrm>
            <a:off x="1028700" y="3261122"/>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Orchestration</a:t>
            </a:r>
            <a:endParaRPr lang="en-US" sz="1950" dirty="0"/>
          </a:p>
        </p:txBody>
      </p:sp>
      <p:sp>
        <p:nvSpPr>
          <p:cNvPr id="8" name="Text 6"/>
          <p:cNvSpPr/>
          <p:nvPr/>
        </p:nvSpPr>
        <p:spPr>
          <a:xfrm>
            <a:off x="3162300" y="3249216"/>
            <a:ext cx="5847207"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K3s</a:t>
            </a:r>
            <a:pPr algn="l" indent="0" marL="0">
              <a:buNone/>
            </a:pPr>
            <a:r>
              <a:rPr lang="en-US" sz="1950" dirty="0">
                <a:solidFill>
                  <a:srgbClr val="73737A"/>
                </a:solidFill>
                <a:latin typeface="Space Grotesk" pitchFamily="34" charset="0"/>
                <a:ea typeface="Space Grotesk" pitchFamily="34" charset="-122"/>
                <a:cs typeface="Space Grotesk" pitchFamily="34" charset="-120"/>
              </a:rPr>
              <a:t>— Kubernetes léger</a:t>
            </a:r>
            <a:endParaRPr lang="en-US" sz="1200" dirty="0"/>
          </a:p>
        </p:txBody>
      </p:sp>
      <p:sp>
        <p:nvSpPr>
          <p:cNvPr id="9" name="Shape 7"/>
          <p:cNvSpPr/>
          <p:nvPr/>
        </p:nvSpPr>
        <p:spPr>
          <a:xfrm>
            <a:off x="9448800" y="4307681"/>
            <a:ext cx="7810500" cy="9525"/>
          </a:xfrm>
          <a:prstGeom prst="rect">
            <a:avLst/>
          </a:prstGeom>
          <a:solidFill>
            <a:srgbClr val="DCDCDC"/>
          </a:solidFill>
          <a:ln/>
        </p:spPr>
      </p:sp>
      <p:sp>
        <p:nvSpPr>
          <p:cNvPr id="10" name="Text 8"/>
          <p:cNvSpPr/>
          <p:nvPr/>
        </p:nvSpPr>
        <p:spPr>
          <a:xfrm>
            <a:off x="9448800" y="3261122"/>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Sécurité</a:t>
            </a:r>
            <a:endParaRPr lang="en-US" sz="1950" dirty="0"/>
          </a:p>
        </p:txBody>
      </p:sp>
      <p:sp>
        <p:nvSpPr>
          <p:cNvPr id="11" name="Text 9"/>
          <p:cNvSpPr/>
          <p:nvPr/>
        </p:nvSpPr>
        <p:spPr>
          <a:xfrm>
            <a:off x="11582400" y="3092053"/>
            <a:ext cx="5847207" cy="742950"/>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OPA · Dex · oauth2-proxy </a:t>
            </a:r>
            <a:pPr algn="l" indent="0" marL="0">
              <a:buNone/>
            </a:pPr>
            <a:r>
              <a:rPr lang="en-US" sz="1950" dirty="0">
                <a:solidFill>
                  <a:srgbClr val="73737A"/>
                </a:solidFill>
                <a:latin typeface="Space Grotesk" pitchFamily="34" charset="0"/>
                <a:ea typeface="Space Grotesk" pitchFamily="34" charset="-122"/>
                <a:cs typeface="Space Grotesk" pitchFamily="34" charset="-120"/>
              </a:rPr>
              <a:t>— policies &amp; OIDC</a:t>
            </a:r>
            <a:endParaRPr lang="en-US" sz="1200" dirty="0"/>
          </a:p>
        </p:txBody>
      </p:sp>
      <p:sp>
        <p:nvSpPr>
          <p:cNvPr id="12" name="Shape 10"/>
          <p:cNvSpPr/>
          <p:nvPr/>
        </p:nvSpPr>
        <p:spPr>
          <a:xfrm>
            <a:off x="1028700" y="6043613"/>
            <a:ext cx="7810500" cy="9525"/>
          </a:xfrm>
          <a:prstGeom prst="rect">
            <a:avLst/>
          </a:prstGeom>
          <a:solidFill>
            <a:srgbClr val="DCDCDC"/>
          </a:solidFill>
          <a:ln/>
        </p:spPr>
      </p:sp>
      <p:sp>
        <p:nvSpPr>
          <p:cNvPr id="13" name="Text 11"/>
          <p:cNvSpPr/>
          <p:nvPr/>
        </p:nvSpPr>
        <p:spPr>
          <a:xfrm>
            <a:off x="1028700" y="4997053"/>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Packaging</a:t>
            </a:r>
            <a:endParaRPr lang="en-US" sz="1950" dirty="0"/>
          </a:p>
        </p:txBody>
      </p:sp>
      <p:sp>
        <p:nvSpPr>
          <p:cNvPr id="14" name="Text 12"/>
          <p:cNvSpPr/>
          <p:nvPr/>
        </p:nvSpPr>
        <p:spPr>
          <a:xfrm>
            <a:off x="3162300" y="4985147"/>
            <a:ext cx="5847207"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Helm · Kustomize</a:t>
            </a:r>
            <a:endParaRPr lang="en-US" sz="2400" dirty="0"/>
          </a:p>
        </p:txBody>
      </p:sp>
      <p:sp>
        <p:nvSpPr>
          <p:cNvPr id="15" name="Shape 13"/>
          <p:cNvSpPr/>
          <p:nvPr/>
        </p:nvSpPr>
        <p:spPr>
          <a:xfrm>
            <a:off x="9448800" y="6043613"/>
            <a:ext cx="7810500" cy="9525"/>
          </a:xfrm>
          <a:prstGeom prst="rect">
            <a:avLst/>
          </a:prstGeom>
          <a:solidFill>
            <a:srgbClr val="DCDCDC"/>
          </a:solidFill>
          <a:ln/>
        </p:spPr>
      </p:sp>
      <p:sp>
        <p:nvSpPr>
          <p:cNvPr id="16" name="Text 14"/>
          <p:cNvSpPr/>
          <p:nvPr/>
        </p:nvSpPr>
        <p:spPr>
          <a:xfrm>
            <a:off x="9448800" y="4997053"/>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Observabilité</a:t>
            </a:r>
            <a:endParaRPr lang="en-US" sz="1950" dirty="0"/>
          </a:p>
        </p:txBody>
      </p:sp>
      <p:sp>
        <p:nvSpPr>
          <p:cNvPr id="17" name="Text 15"/>
          <p:cNvSpPr/>
          <p:nvPr/>
        </p:nvSpPr>
        <p:spPr>
          <a:xfrm>
            <a:off x="11582400" y="4985147"/>
            <a:ext cx="5847207"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Prometheus · Grafana · Loki</a:t>
            </a:r>
            <a:endParaRPr lang="en-US" sz="2400" dirty="0"/>
          </a:p>
        </p:txBody>
      </p:sp>
      <p:sp>
        <p:nvSpPr>
          <p:cNvPr id="18" name="Shape 16"/>
          <p:cNvSpPr/>
          <p:nvPr/>
        </p:nvSpPr>
        <p:spPr>
          <a:xfrm>
            <a:off x="1028700" y="7779544"/>
            <a:ext cx="7810500" cy="9525"/>
          </a:xfrm>
          <a:prstGeom prst="rect">
            <a:avLst/>
          </a:prstGeom>
          <a:solidFill>
            <a:srgbClr val="DCDCDC"/>
          </a:solidFill>
          <a:ln/>
        </p:spPr>
      </p:sp>
      <p:sp>
        <p:nvSpPr>
          <p:cNvPr id="19" name="Text 17"/>
          <p:cNvSpPr/>
          <p:nvPr/>
        </p:nvSpPr>
        <p:spPr>
          <a:xfrm>
            <a:off x="1028700" y="6732984"/>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GitOps</a:t>
            </a:r>
            <a:endParaRPr lang="en-US" sz="1950" dirty="0"/>
          </a:p>
        </p:txBody>
      </p:sp>
      <p:sp>
        <p:nvSpPr>
          <p:cNvPr id="20" name="Text 18"/>
          <p:cNvSpPr/>
          <p:nvPr/>
        </p:nvSpPr>
        <p:spPr>
          <a:xfrm>
            <a:off x="3162300" y="6721078"/>
            <a:ext cx="5847207"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ArgoCD</a:t>
            </a:r>
            <a:pPr algn="l" indent="0" marL="0">
              <a:buNone/>
            </a:pPr>
            <a:r>
              <a:rPr lang="en-US" sz="1950" dirty="0">
                <a:solidFill>
                  <a:srgbClr val="73737A"/>
                </a:solidFill>
                <a:latin typeface="Space Grotesk" pitchFamily="34" charset="0"/>
                <a:ea typeface="Space Grotesk" pitchFamily="34" charset="-122"/>
                <a:cs typeface="Space Grotesk" pitchFamily="34" charset="-120"/>
              </a:rPr>
              <a:t>— synchronisation</a:t>
            </a:r>
            <a:endParaRPr lang="en-US" sz="1200" dirty="0"/>
          </a:p>
        </p:txBody>
      </p:sp>
      <p:sp>
        <p:nvSpPr>
          <p:cNvPr id="21" name="Shape 19"/>
          <p:cNvSpPr/>
          <p:nvPr/>
        </p:nvSpPr>
        <p:spPr>
          <a:xfrm>
            <a:off x="9448800" y="7779544"/>
            <a:ext cx="7810500" cy="9525"/>
          </a:xfrm>
          <a:prstGeom prst="rect">
            <a:avLst/>
          </a:prstGeom>
          <a:solidFill>
            <a:srgbClr val="DCDCDC"/>
          </a:solidFill>
          <a:ln/>
        </p:spPr>
      </p:sp>
      <p:sp>
        <p:nvSpPr>
          <p:cNvPr id="22" name="Text 20"/>
          <p:cNvSpPr/>
          <p:nvPr/>
        </p:nvSpPr>
        <p:spPr>
          <a:xfrm>
            <a:off x="9448800" y="6732984"/>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Réseau</a:t>
            </a:r>
            <a:endParaRPr lang="en-US" sz="1950" dirty="0"/>
          </a:p>
        </p:txBody>
      </p:sp>
      <p:sp>
        <p:nvSpPr>
          <p:cNvPr id="23" name="Text 21"/>
          <p:cNvSpPr/>
          <p:nvPr/>
        </p:nvSpPr>
        <p:spPr>
          <a:xfrm>
            <a:off x="11582400" y="6721078"/>
            <a:ext cx="5847207"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nginx-ingress</a:t>
            </a:r>
            <a:endParaRPr lang="en-US" sz="2400" dirty="0"/>
          </a:p>
        </p:txBody>
      </p:sp>
      <p:sp>
        <p:nvSpPr>
          <p:cNvPr id="24" name="Shape 22"/>
          <p:cNvSpPr/>
          <p:nvPr/>
        </p:nvSpPr>
        <p:spPr>
          <a:xfrm>
            <a:off x="1028700" y="9515475"/>
            <a:ext cx="7810500" cy="9525"/>
          </a:xfrm>
          <a:prstGeom prst="rect">
            <a:avLst/>
          </a:prstGeom>
          <a:solidFill>
            <a:srgbClr val="DCDCDC"/>
          </a:solidFill>
          <a:ln/>
        </p:spPr>
      </p:sp>
      <p:sp>
        <p:nvSpPr>
          <p:cNvPr id="25" name="Text 23"/>
          <p:cNvSpPr/>
          <p:nvPr/>
        </p:nvSpPr>
        <p:spPr>
          <a:xfrm>
            <a:off x="1028700" y="8468916"/>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CI/CD</a:t>
            </a:r>
            <a:endParaRPr lang="en-US" sz="1950" dirty="0"/>
          </a:p>
        </p:txBody>
      </p:sp>
      <p:sp>
        <p:nvSpPr>
          <p:cNvPr id="26" name="Text 24"/>
          <p:cNvSpPr/>
          <p:nvPr/>
        </p:nvSpPr>
        <p:spPr>
          <a:xfrm>
            <a:off x="3162300" y="8457009"/>
            <a:ext cx="5847207"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GitHub Actions</a:t>
            </a:r>
            <a:endParaRPr lang="en-US" sz="2400" dirty="0"/>
          </a:p>
        </p:txBody>
      </p:sp>
      <p:sp>
        <p:nvSpPr>
          <p:cNvPr id="27" name="Shape 25"/>
          <p:cNvSpPr/>
          <p:nvPr/>
        </p:nvSpPr>
        <p:spPr>
          <a:xfrm>
            <a:off x="9448800" y="9515475"/>
            <a:ext cx="7810500" cy="9525"/>
          </a:xfrm>
          <a:prstGeom prst="rect">
            <a:avLst/>
          </a:prstGeom>
          <a:solidFill>
            <a:srgbClr val="DCDCDC"/>
          </a:solidFill>
          <a:ln/>
        </p:spPr>
      </p:sp>
      <p:sp>
        <p:nvSpPr>
          <p:cNvPr id="28" name="Text 26"/>
          <p:cNvSpPr/>
          <p:nvPr/>
        </p:nvSpPr>
        <p:spPr>
          <a:xfrm>
            <a:off x="9448800" y="8468916"/>
            <a:ext cx="20955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Données</a:t>
            </a:r>
            <a:endParaRPr lang="en-US" sz="1950" dirty="0"/>
          </a:p>
        </p:txBody>
      </p:sp>
      <p:sp>
        <p:nvSpPr>
          <p:cNvPr id="29" name="Text 27"/>
          <p:cNvSpPr/>
          <p:nvPr/>
        </p:nvSpPr>
        <p:spPr>
          <a:xfrm>
            <a:off x="11582400" y="8457009"/>
            <a:ext cx="5847207"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0B0B0C"/>
                </a:solidFill>
                <a:latin typeface="Space Grotesk" pitchFamily="34" charset="0"/>
                <a:ea typeface="Space Grotesk" pitchFamily="34" charset="-122"/>
                <a:cs typeface="Space Grotesk" pitchFamily="34" charset="-120"/>
              </a:rPr>
              <a:t>MySQL</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930771"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GITOPS</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05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GitOps avec ArgoCD</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Shape 4"/>
          <p:cNvSpPr/>
          <p:nvPr/>
        </p:nvSpPr>
        <p:spPr>
          <a:xfrm>
            <a:off x="1028700" y="4448175"/>
            <a:ext cx="1165994" cy="842963"/>
          </a:xfrm>
          <a:prstGeom prst="rect">
            <a:avLst/>
          </a:prstGeom>
          <a:ln w="14288">
            <a:solidFill>
              <a:srgbClr val="0B0B0C"/>
            </a:solidFill>
            <a:prstDash val="solid"/>
          </a:ln>
        </p:spPr>
      </p:sp>
      <p:sp>
        <p:nvSpPr>
          <p:cNvPr id="7" name="Text 5"/>
          <p:cNvSpPr/>
          <p:nvPr/>
        </p:nvSpPr>
        <p:spPr>
          <a:xfrm>
            <a:off x="1366838" y="4672013"/>
            <a:ext cx="565919" cy="433388"/>
          </a:xfrm>
          <a:prstGeom prst="rect">
            <a:avLst/>
          </a:prstGeom>
          <a:noFill/>
          <a:ln/>
        </p:spPr>
        <p:txBody>
          <a:bodyPr wrap="square" lIns="25400" tIns="25400" rIns="25400" bIns="25400" rtlCol="0" anchor="t">
            <a:normAutofit/>
          </a:bodyPr>
          <a:lstStyle/>
          <a:p>
            <a:pPr algn="l" indent="0" marL="0">
              <a:buNone/>
            </a:pPr>
            <a:r>
              <a:rPr lang="en-US" sz="2100" b="1" dirty="0">
                <a:solidFill>
                  <a:srgbClr val="0B0B0C"/>
                </a:solidFill>
                <a:latin typeface="Space Mono" pitchFamily="34" charset="0"/>
                <a:ea typeface="Space Mono" pitchFamily="34" charset="-122"/>
                <a:cs typeface="Space Mono" pitchFamily="34" charset="-120"/>
              </a:rPr>
              <a:t>Git</a:t>
            </a:r>
            <a:endParaRPr lang="en-US" sz="2100" dirty="0"/>
          </a:p>
        </p:txBody>
      </p:sp>
      <p:sp>
        <p:nvSpPr>
          <p:cNvPr id="8" name="Text 6"/>
          <p:cNvSpPr/>
          <p:nvPr/>
        </p:nvSpPr>
        <p:spPr>
          <a:xfrm>
            <a:off x="2461394" y="4657725"/>
            <a:ext cx="592336" cy="461963"/>
          </a:xfrm>
          <a:prstGeom prst="rect">
            <a:avLst/>
          </a:prstGeom>
          <a:noFill/>
          <a:ln/>
        </p:spPr>
        <p:txBody>
          <a:bodyPr wrap="square" lIns="25400" tIns="25400" rIns="25400" bIns="25400" rtlCol="0" anchor="t">
            <a:normAutofit/>
          </a:bodyPr>
          <a:lstStyle/>
          <a:p>
            <a:pPr algn="l" indent="0" marL="0">
              <a:buNone/>
            </a:pPr>
            <a:r>
              <a:rPr lang="en-US" sz="2250" dirty="0">
                <a:solidFill>
                  <a:srgbClr val="73737A"/>
                </a:solidFill>
                <a:latin typeface="Space Mono" pitchFamily="34" charset="0"/>
                <a:ea typeface="Space Mono" pitchFamily="34" charset="-122"/>
                <a:cs typeface="Space Mono" pitchFamily="34" charset="-120"/>
              </a:rPr>
              <a:t>──▶</a:t>
            </a:r>
            <a:endParaRPr lang="en-US" sz="2250" dirty="0"/>
          </a:p>
        </p:txBody>
      </p:sp>
      <p:sp>
        <p:nvSpPr>
          <p:cNvPr id="9" name="Shape 7"/>
          <p:cNvSpPr/>
          <p:nvPr/>
        </p:nvSpPr>
        <p:spPr>
          <a:xfrm>
            <a:off x="3244230" y="4448175"/>
            <a:ext cx="1655638" cy="842963"/>
          </a:xfrm>
          <a:prstGeom prst="rect">
            <a:avLst/>
          </a:prstGeom>
          <a:ln w="14288">
            <a:solidFill>
              <a:srgbClr val="0B0B0C"/>
            </a:solidFill>
            <a:prstDash val="solid"/>
          </a:ln>
        </p:spPr>
      </p:sp>
      <p:sp>
        <p:nvSpPr>
          <p:cNvPr id="10" name="Text 8"/>
          <p:cNvSpPr/>
          <p:nvPr/>
        </p:nvSpPr>
        <p:spPr>
          <a:xfrm>
            <a:off x="3582367" y="4672013"/>
            <a:ext cx="1055563" cy="433388"/>
          </a:xfrm>
          <a:prstGeom prst="rect">
            <a:avLst/>
          </a:prstGeom>
          <a:noFill/>
          <a:ln/>
        </p:spPr>
        <p:txBody>
          <a:bodyPr wrap="square" lIns="25400" tIns="25400" rIns="25400" bIns="25400" rtlCol="0" anchor="t">
            <a:normAutofit/>
          </a:bodyPr>
          <a:lstStyle/>
          <a:p>
            <a:pPr algn="l" indent="0" marL="0">
              <a:buNone/>
            </a:pPr>
            <a:r>
              <a:rPr lang="en-US" sz="2100" b="1" dirty="0">
                <a:solidFill>
                  <a:srgbClr val="0B0B0C"/>
                </a:solidFill>
                <a:latin typeface="Space Mono" pitchFamily="34" charset="0"/>
                <a:ea typeface="Space Mono" pitchFamily="34" charset="-122"/>
                <a:cs typeface="Space Mono" pitchFamily="34" charset="-120"/>
              </a:rPr>
              <a:t>ArgoCD</a:t>
            </a:r>
            <a:endParaRPr lang="en-US" sz="2100" dirty="0"/>
          </a:p>
        </p:txBody>
      </p:sp>
      <p:sp>
        <p:nvSpPr>
          <p:cNvPr id="11" name="Text 9"/>
          <p:cNvSpPr/>
          <p:nvPr/>
        </p:nvSpPr>
        <p:spPr>
          <a:xfrm>
            <a:off x="5166568" y="4657725"/>
            <a:ext cx="592336" cy="461963"/>
          </a:xfrm>
          <a:prstGeom prst="rect">
            <a:avLst/>
          </a:prstGeom>
          <a:noFill/>
          <a:ln/>
        </p:spPr>
        <p:txBody>
          <a:bodyPr wrap="square" lIns="25400" tIns="25400" rIns="25400" bIns="25400" rtlCol="0" anchor="t">
            <a:normAutofit/>
          </a:bodyPr>
          <a:lstStyle/>
          <a:p>
            <a:pPr algn="l" indent="0" marL="0">
              <a:buNone/>
            </a:pPr>
            <a:r>
              <a:rPr lang="en-US" sz="2250" dirty="0">
                <a:solidFill>
                  <a:srgbClr val="73737A"/>
                </a:solidFill>
                <a:latin typeface="Space Mono" pitchFamily="34" charset="0"/>
                <a:ea typeface="Space Mono" pitchFamily="34" charset="-122"/>
                <a:cs typeface="Space Mono" pitchFamily="34" charset="-120"/>
              </a:rPr>
              <a:t>──▶</a:t>
            </a:r>
            <a:endParaRPr lang="en-US" sz="2250" dirty="0"/>
          </a:p>
        </p:txBody>
      </p:sp>
      <p:sp>
        <p:nvSpPr>
          <p:cNvPr id="12" name="Shape 10"/>
          <p:cNvSpPr/>
          <p:nvPr/>
        </p:nvSpPr>
        <p:spPr>
          <a:xfrm>
            <a:off x="5949404" y="4448175"/>
            <a:ext cx="1818829" cy="842963"/>
          </a:xfrm>
          <a:prstGeom prst="rect">
            <a:avLst/>
          </a:prstGeom>
          <a:ln w="14288">
            <a:solidFill>
              <a:srgbClr val="0B0B0C"/>
            </a:solidFill>
            <a:prstDash val="solid"/>
          </a:ln>
        </p:spPr>
      </p:sp>
      <p:sp>
        <p:nvSpPr>
          <p:cNvPr id="13" name="Text 11"/>
          <p:cNvSpPr/>
          <p:nvPr/>
        </p:nvSpPr>
        <p:spPr>
          <a:xfrm>
            <a:off x="6287542" y="4672013"/>
            <a:ext cx="1218754" cy="433388"/>
          </a:xfrm>
          <a:prstGeom prst="rect">
            <a:avLst/>
          </a:prstGeom>
          <a:noFill/>
          <a:ln/>
        </p:spPr>
        <p:txBody>
          <a:bodyPr wrap="square" lIns="25400" tIns="25400" rIns="25400" bIns="25400" rtlCol="0" anchor="t">
            <a:normAutofit/>
          </a:bodyPr>
          <a:lstStyle/>
          <a:p>
            <a:pPr algn="l" indent="0" marL="0">
              <a:buNone/>
            </a:pPr>
            <a:r>
              <a:rPr lang="en-US" sz="2100" b="1" dirty="0">
                <a:solidFill>
                  <a:srgbClr val="0B0B0C"/>
                </a:solidFill>
                <a:latin typeface="Space Mono" pitchFamily="34" charset="0"/>
                <a:ea typeface="Space Mono" pitchFamily="34" charset="-122"/>
                <a:cs typeface="Space Mono" pitchFamily="34" charset="-120"/>
              </a:rPr>
              <a:t>Cluster</a:t>
            </a:r>
            <a:endParaRPr lang="en-US" sz="2100" dirty="0"/>
          </a:p>
        </p:txBody>
      </p:sp>
      <p:sp>
        <p:nvSpPr>
          <p:cNvPr id="14" name="Text 12"/>
          <p:cNvSpPr/>
          <p:nvPr/>
        </p:nvSpPr>
        <p:spPr>
          <a:xfrm>
            <a:off x="8168283" y="4350544"/>
            <a:ext cx="2943225" cy="1076325"/>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73737A"/>
                </a:solidFill>
                <a:latin typeface="Space Grotesk" pitchFamily="34" charset="0"/>
                <a:ea typeface="Space Grotesk" pitchFamily="34" charset="-122"/>
                <a:cs typeface="Space Grotesk" pitchFamily="34" charset="-120"/>
              </a:rPr>
              <a:t>Source de vérité → réconciliation continue → état réel</a:t>
            </a:r>
            <a:endParaRPr lang="en-US" sz="1950" dirty="0"/>
          </a:p>
        </p:txBody>
      </p:sp>
      <p:sp>
        <p:nvSpPr>
          <p:cNvPr id="15" name="Shape 13"/>
          <p:cNvSpPr/>
          <p:nvPr/>
        </p:nvSpPr>
        <p:spPr>
          <a:xfrm>
            <a:off x="1028700" y="5865019"/>
            <a:ext cx="7943850" cy="28575"/>
          </a:xfrm>
          <a:prstGeom prst="rect">
            <a:avLst/>
          </a:prstGeom>
          <a:solidFill>
            <a:srgbClr val="0B0B0C"/>
          </a:solidFill>
          <a:ln/>
        </p:spPr>
      </p:sp>
      <p:sp>
        <p:nvSpPr>
          <p:cNvPr id="16" name="Text 14"/>
          <p:cNvSpPr/>
          <p:nvPr/>
        </p:nvSpPr>
        <p:spPr>
          <a:xfrm>
            <a:off x="1028700" y="6122194"/>
            <a:ext cx="8738235" cy="433388"/>
          </a:xfrm>
          <a:prstGeom prst="rect">
            <a:avLst/>
          </a:prstGeom>
          <a:noFill/>
          <a:ln/>
        </p:spPr>
        <p:txBody>
          <a:bodyPr wrap="square" lIns="25400" tIns="25400" rIns="25400" bIns="25400" rtlCol="0" anchor="t">
            <a:normAutofit/>
          </a:bodyPr>
          <a:lstStyle/>
          <a:p>
            <a:pPr algn="l" indent="0" marL="0">
              <a:buNone/>
            </a:pPr>
            <a:r>
              <a:rPr lang="en-US" sz="2100" b="1" dirty="0">
                <a:solidFill>
                  <a:srgbClr val="0B0B0C"/>
                </a:solidFill>
                <a:latin typeface="Space Mono" pitchFamily="34" charset="0"/>
                <a:ea typeface="Space Mono" pitchFamily="34" charset="-122"/>
                <a:cs typeface="Space Mono" pitchFamily="34" charset="-120"/>
              </a:rPr>
              <a:t>main → staging</a:t>
            </a:r>
            <a:endParaRPr lang="en-US" sz="2100" dirty="0"/>
          </a:p>
        </p:txBody>
      </p:sp>
      <p:sp>
        <p:nvSpPr>
          <p:cNvPr id="17" name="Text 15"/>
          <p:cNvSpPr/>
          <p:nvPr/>
        </p:nvSpPr>
        <p:spPr>
          <a:xfrm>
            <a:off x="1028700" y="6631781"/>
            <a:ext cx="8738235" cy="428625"/>
          </a:xfrm>
          <a:prstGeom prst="rect">
            <a:avLst/>
          </a:prstGeom>
          <a:noFill/>
          <a:ln/>
        </p:spPr>
        <p:txBody>
          <a:bodyPr wrap="square" lIns="25400" tIns="25400" rIns="25400" bIns="25400" rtlCol="0" anchor="t">
            <a:normAutofit/>
          </a:bodyPr>
          <a:lstStyle/>
          <a:p>
            <a:pPr algn="l" indent="0" marL="0">
              <a:buNone/>
            </a:pPr>
            <a:r>
              <a:rPr lang="en-US" sz="2400" dirty="0">
                <a:solidFill>
                  <a:srgbClr val="0B0B0C"/>
                </a:solidFill>
                <a:latin typeface="Space Grotesk" pitchFamily="34" charset="0"/>
                <a:ea typeface="Space Grotesk" pitchFamily="34" charset="-122"/>
                <a:cs typeface="Space Grotesk" pitchFamily="34" charset="-120"/>
              </a:rPr>
              <a:t>Sync automatique</a:t>
            </a:r>
            <a:endParaRPr lang="en-US" sz="2400" dirty="0"/>
          </a:p>
        </p:txBody>
      </p:sp>
      <p:sp>
        <p:nvSpPr>
          <p:cNvPr id="18" name="Text 16"/>
          <p:cNvSpPr/>
          <p:nvPr/>
        </p:nvSpPr>
        <p:spPr>
          <a:xfrm>
            <a:off x="1028700" y="7098506"/>
            <a:ext cx="873823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Grotesk" pitchFamily="34" charset="0"/>
                <a:ea typeface="Space Grotesk" pitchFamily="34" charset="-122"/>
                <a:cs typeface="Space Grotesk" pitchFamily="34" charset="-120"/>
              </a:rPr>
              <a:t>Tout commit est déployé immédiatement.</a:t>
            </a:r>
            <a:endParaRPr lang="en-US" sz="1950" dirty="0"/>
          </a:p>
        </p:txBody>
      </p:sp>
      <p:sp>
        <p:nvSpPr>
          <p:cNvPr id="19" name="Shape 17"/>
          <p:cNvSpPr/>
          <p:nvPr/>
        </p:nvSpPr>
        <p:spPr>
          <a:xfrm>
            <a:off x="9315450" y="5865019"/>
            <a:ext cx="7943850" cy="28575"/>
          </a:xfrm>
          <a:prstGeom prst="rect">
            <a:avLst/>
          </a:prstGeom>
          <a:solidFill>
            <a:srgbClr val="0B0B0C"/>
          </a:solidFill>
          <a:ln/>
        </p:spPr>
      </p:sp>
      <p:sp>
        <p:nvSpPr>
          <p:cNvPr id="20" name="Text 18"/>
          <p:cNvSpPr/>
          <p:nvPr/>
        </p:nvSpPr>
        <p:spPr>
          <a:xfrm>
            <a:off x="9315450" y="6122194"/>
            <a:ext cx="8738235" cy="433388"/>
          </a:xfrm>
          <a:prstGeom prst="rect">
            <a:avLst/>
          </a:prstGeom>
          <a:noFill/>
          <a:ln/>
        </p:spPr>
        <p:txBody>
          <a:bodyPr wrap="square" lIns="25400" tIns="25400" rIns="25400" bIns="25400" rtlCol="0" anchor="t">
            <a:normAutofit/>
          </a:bodyPr>
          <a:lstStyle/>
          <a:p>
            <a:pPr algn="l" indent="0" marL="0">
              <a:buNone/>
            </a:pPr>
            <a:r>
              <a:rPr lang="en-US" sz="2100" b="1" dirty="0">
                <a:solidFill>
                  <a:srgbClr val="0B0B0C"/>
                </a:solidFill>
                <a:latin typeface="Space Mono" pitchFamily="34" charset="0"/>
                <a:ea typeface="Space Mono" pitchFamily="34" charset="-122"/>
                <a:cs typeface="Space Mono" pitchFamily="34" charset="-120"/>
              </a:rPr>
              <a:t>prod → production</a:t>
            </a:r>
            <a:endParaRPr lang="en-US" sz="2100" dirty="0"/>
          </a:p>
        </p:txBody>
      </p:sp>
      <p:sp>
        <p:nvSpPr>
          <p:cNvPr id="21" name="Text 19"/>
          <p:cNvSpPr/>
          <p:nvPr/>
        </p:nvSpPr>
        <p:spPr>
          <a:xfrm>
            <a:off x="9315450" y="6631781"/>
            <a:ext cx="8738235" cy="428625"/>
          </a:xfrm>
          <a:prstGeom prst="rect">
            <a:avLst/>
          </a:prstGeom>
          <a:noFill/>
          <a:ln/>
        </p:spPr>
        <p:txBody>
          <a:bodyPr wrap="square" lIns="25400" tIns="25400" rIns="25400" bIns="25400" rtlCol="0" anchor="t">
            <a:normAutofit/>
          </a:bodyPr>
          <a:lstStyle/>
          <a:p>
            <a:pPr algn="l" indent="0" marL="0">
              <a:buNone/>
            </a:pPr>
            <a:r>
              <a:rPr lang="en-US" sz="2400" dirty="0">
                <a:solidFill>
                  <a:srgbClr val="0B0B0C"/>
                </a:solidFill>
                <a:latin typeface="Space Grotesk" pitchFamily="34" charset="0"/>
                <a:ea typeface="Space Grotesk" pitchFamily="34" charset="-122"/>
                <a:cs typeface="Space Grotesk" pitchFamily="34" charset="-120"/>
              </a:rPr>
              <a:t>Sync manuelle · gate humain</a:t>
            </a:r>
            <a:endParaRPr lang="en-US" sz="2400" dirty="0"/>
          </a:p>
        </p:txBody>
      </p:sp>
      <p:sp>
        <p:nvSpPr>
          <p:cNvPr id="22" name="Text 20"/>
          <p:cNvSpPr/>
          <p:nvPr/>
        </p:nvSpPr>
        <p:spPr>
          <a:xfrm>
            <a:off x="9315450" y="7098506"/>
            <a:ext cx="873823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Grotesk" pitchFamily="34" charset="0"/>
                <a:ea typeface="Space Grotesk" pitchFamily="34" charset="-122"/>
                <a:cs typeface="Space Grotesk" pitchFamily="34" charset="-120"/>
              </a:rPr>
              <a:t>Aucun déploiement sans validation explicite.</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788343"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CI/CD</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06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Pipeline CI/CD — GitHub Actions</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Shape 4"/>
          <p:cNvSpPr/>
          <p:nvPr/>
        </p:nvSpPr>
        <p:spPr>
          <a:xfrm>
            <a:off x="1028700" y="4708178"/>
            <a:ext cx="2837557" cy="1656383"/>
          </a:xfrm>
          <a:prstGeom prst="rect">
            <a:avLst/>
          </a:prstGeom>
          <a:ln w="14288">
            <a:solidFill>
              <a:srgbClr val="0B0B0C"/>
            </a:solidFill>
            <a:prstDash val="solid"/>
          </a:ln>
        </p:spPr>
      </p:sp>
      <p:sp>
        <p:nvSpPr>
          <p:cNvPr id="7" name="Text 5"/>
          <p:cNvSpPr/>
          <p:nvPr/>
        </p:nvSpPr>
        <p:spPr>
          <a:xfrm>
            <a:off x="1252538" y="4970115"/>
            <a:ext cx="2628870" cy="347663"/>
          </a:xfrm>
          <a:prstGeom prst="rect">
            <a:avLst/>
          </a:prstGeom>
          <a:noFill/>
          <a:ln/>
        </p:spPr>
        <p:txBody>
          <a:bodyPr wrap="square" lIns="25400" tIns="25400" rIns="25400" bIns="25400" rtlCol="0" anchor="t">
            <a:normAutofit/>
          </a:bodyPr>
          <a:lstStyle/>
          <a:p>
            <a:pPr algn="l" indent="0" marL="0">
              <a:buNone/>
            </a:pPr>
            <a:r>
              <a:rPr lang="en-US" sz="1650" dirty="0">
                <a:solidFill>
                  <a:srgbClr val="73737A"/>
                </a:solidFill>
                <a:latin typeface="Space Mono" pitchFamily="34" charset="0"/>
                <a:ea typeface="Space Mono" pitchFamily="34" charset="-122"/>
                <a:cs typeface="Space Mono" pitchFamily="34" charset="-120"/>
              </a:rPr>
              <a:t>01</a:t>
            </a:r>
            <a:endParaRPr lang="en-US" sz="1650" dirty="0"/>
          </a:p>
        </p:txBody>
      </p:sp>
      <p:sp>
        <p:nvSpPr>
          <p:cNvPr id="8" name="Text 6"/>
          <p:cNvSpPr/>
          <p:nvPr/>
        </p:nvSpPr>
        <p:spPr>
          <a:xfrm>
            <a:off x="1252538" y="5413028"/>
            <a:ext cx="2628870"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0B0B0C"/>
                </a:solidFill>
                <a:latin typeface="Space Grotesk" pitchFamily="34" charset="0"/>
                <a:ea typeface="Space Grotesk" pitchFamily="34" charset="-122"/>
                <a:cs typeface="Space Grotesk" pitchFamily="34" charset="-120"/>
              </a:rPr>
              <a:t>Push code</a:t>
            </a:r>
            <a:endParaRPr lang="en-US" sz="1950" dirty="0"/>
          </a:p>
        </p:txBody>
      </p:sp>
      <p:sp>
        <p:nvSpPr>
          <p:cNvPr id="9" name="Text 7"/>
          <p:cNvSpPr/>
          <p:nvPr/>
        </p:nvSpPr>
        <p:spPr>
          <a:xfrm>
            <a:off x="4037707" y="4708178"/>
            <a:ext cx="236786" cy="1694483"/>
          </a:xfrm>
          <a:prstGeom prst="rect">
            <a:avLst/>
          </a:prstGeom>
          <a:noFill/>
          <a:ln/>
        </p:spPr>
        <p:txBody>
          <a:bodyPr wrap="square" lIns="25400" tIns="25400" rIns="25400" bIns="25400" rtlCol="0" anchor="ctr">
            <a:normAutofit/>
          </a:bodyPr>
          <a:lstStyle/>
          <a:p>
            <a:pPr algn="l" indent="0" marL="0">
              <a:buNone/>
            </a:pPr>
            <a:r>
              <a:rPr lang="en-US" sz="2100" dirty="0">
                <a:solidFill>
                  <a:srgbClr val="73737A"/>
                </a:solidFill>
                <a:latin typeface="Space Mono" pitchFamily="34" charset="0"/>
                <a:ea typeface="Space Mono" pitchFamily="34" charset="-122"/>
                <a:cs typeface="Space Mono" pitchFamily="34" charset="-120"/>
              </a:rPr>
              <a:t>▶</a:t>
            </a:r>
            <a:endParaRPr lang="en-US" sz="2100" dirty="0"/>
          </a:p>
        </p:txBody>
      </p:sp>
      <p:sp>
        <p:nvSpPr>
          <p:cNvPr id="10" name="Shape 8"/>
          <p:cNvSpPr/>
          <p:nvPr/>
        </p:nvSpPr>
        <p:spPr>
          <a:xfrm>
            <a:off x="4369743" y="4708178"/>
            <a:ext cx="2837631" cy="1656383"/>
          </a:xfrm>
          <a:prstGeom prst="rect">
            <a:avLst/>
          </a:prstGeom>
          <a:ln w="14288">
            <a:solidFill>
              <a:srgbClr val="0B0B0C"/>
            </a:solidFill>
            <a:prstDash val="solid"/>
          </a:ln>
        </p:spPr>
      </p:sp>
      <p:sp>
        <p:nvSpPr>
          <p:cNvPr id="11" name="Text 9"/>
          <p:cNvSpPr/>
          <p:nvPr/>
        </p:nvSpPr>
        <p:spPr>
          <a:xfrm>
            <a:off x="4593580" y="4970115"/>
            <a:ext cx="2628952" cy="347663"/>
          </a:xfrm>
          <a:prstGeom prst="rect">
            <a:avLst/>
          </a:prstGeom>
          <a:noFill/>
          <a:ln/>
        </p:spPr>
        <p:txBody>
          <a:bodyPr wrap="square" lIns="25400" tIns="25400" rIns="25400" bIns="25400" rtlCol="0" anchor="t">
            <a:normAutofit/>
          </a:bodyPr>
          <a:lstStyle/>
          <a:p>
            <a:pPr algn="l" indent="0" marL="0">
              <a:buNone/>
            </a:pPr>
            <a:r>
              <a:rPr lang="en-US" sz="1650" dirty="0">
                <a:solidFill>
                  <a:srgbClr val="73737A"/>
                </a:solidFill>
                <a:latin typeface="Space Mono" pitchFamily="34" charset="0"/>
                <a:ea typeface="Space Mono" pitchFamily="34" charset="-122"/>
                <a:cs typeface="Space Mono" pitchFamily="34" charset="-120"/>
              </a:rPr>
              <a:t>02</a:t>
            </a:r>
            <a:endParaRPr lang="en-US" sz="1650" dirty="0"/>
          </a:p>
        </p:txBody>
      </p:sp>
      <p:sp>
        <p:nvSpPr>
          <p:cNvPr id="12" name="Text 10"/>
          <p:cNvSpPr/>
          <p:nvPr/>
        </p:nvSpPr>
        <p:spPr>
          <a:xfrm>
            <a:off x="4593580" y="5413028"/>
            <a:ext cx="2628952"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0B0B0C"/>
                </a:solidFill>
                <a:latin typeface="Space Grotesk" pitchFamily="34" charset="0"/>
                <a:ea typeface="Space Grotesk" pitchFamily="34" charset="-122"/>
                <a:cs typeface="Space Grotesk" pitchFamily="34" charset="-120"/>
              </a:rPr>
              <a:t>Build image ARM64</a:t>
            </a:r>
            <a:endParaRPr lang="en-US" sz="1950" dirty="0"/>
          </a:p>
        </p:txBody>
      </p:sp>
      <p:sp>
        <p:nvSpPr>
          <p:cNvPr id="13" name="Text 11"/>
          <p:cNvSpPr/>
          <p:nvPr/>
        </p:nvSpPr>
        <p:spPr>
          <a:xfrm>
            <a:off x="7378824" y="4708178"/>
            <a:ext cx="236786" cy="1694483"/>
          </a:xfrm>
          <a:prstGeom prst="rect">
            <a:avLst/>
          </a:prstGeom>
          <a:noFill/>
          <a:ln/>
        </p:spPr>
        <p:txBody>
          <a:bodyPr wrap="square" lIns="25400" tIns="25400" rIns="25400" bIns="25400" rtlCol="0" anchor="ctr">
            <a:normAutofit/>
          </a:bodyPr>
          <a:lstStyle/>
          <a:p>
            <a:pPr algn="l" indent="0" marL="0">
              <a:buNone/>
            </a:pPr>
            <a:r>
              <a:rPr lang="en-US" sz="2100" dirty="0">
                <a:solidFill>
                  <a:srgbClr val="73737A"/>
                </a:solidFill>
                <a:latin typeface="Space Mono" pitchFamily="34" charset="0"/>
                <a:ea typeface="Space Mono" pitchFamily="34" charset="-122"/>
                <a:cs typeface="Space Mono" pitchFamily="34" charset="-120"/>
              </a:rPr>
              <a:t>▶</a:t>
            </a:r>
            <a:endParaRPr lang="en-US" sz="2100" dirty="0"/>
          </a:p>
        </p:txBody>
      </p:sp>
      <p:sp>
        <p:nvSpPr>
          <p:cNvPr id="14" name="Shape 12"/>
          <p:cNvSpPr/>
          <p:nvPr/>
        </p:nvSpPr>
        <p:spPr>
          <a:xfrm>
            <a:off x="7710860" y="4708178"/>
            <a:ext cx="2837631" cy="1656383"/>
          </a:xfrm>
          <a:prstGeom prst="rect">
            <a:avLst/>
          </a:prstGeom>
          <a:ln w="14288">
            <a:solidFill>
              <a:srgbClr val="0B0B0C"/>
            </a:solidFill>
            <a:prstDash val="solid"/>
          </a:ln>
        </p:spPr>
      </p:sp>
      <p:sp>
        <p:nvSpPr>
          <p:cNvPr id="15" name="Text 13"/>
          <p:cNvSpPr/>
          <p:nvPr/>
        </p:nvSpPr>
        <p:spPr>
          <a:xfrm>
            <a:off x="7934697" y="4970115"/>
            <a:ext cx="2628952" cy="347663"/>
          </a:xfrm>
          <a:prstGeom prst="rect">
            <a:avLst/>
          </a:prstGeom>
          <a:noFill/>
          <a:ln/>
        </p:spPr>
        <p:txBody>
          <a:bodyPr wrap="square" lIns="25400" tIns="25400" rIns="25400" bIns="25400" rtlCol="0" anchor="t">
            <a:normAutofit/>
          </a:bodyPr>
          <a:lstStyle/>
          <a:p>
            <a:pPr algn="l" indent="0" marL="0">
              <a:buNone/>
            </a:pPr>
            <a:r>
              <a:rPr lang="en-US" sz="1650" dirty="0">
                <a:solidFill>
                  <a:srgbClr val="73737A"/>
                </a:solidFill>
                <a:latin typeface="Space Mono" pitchFamily="34" charset="0"/>
                <a:ea typeface="Space Mono" pitchFamily="34" charset="-122"/>
                <a:cs typeface="Space Mono" pitchFamily="34" charset="-120"/>
              </a:rPr>
              <a:t>03</a:t>
            </a:r>
            <a:endParaRPr lang="en-US" sz="1650" dirty="0"/>
          </a:p>
        </p:txBody>
      </p:sp>
      <p:sp>
        <p:nvSpPr>
          <p:cNvPr id="16" name="Text 14"/>
          <p:cNvSpPr/>
          <p:nvPr/>
        </p:nvSpPr>
        <p:spPr>
          <a:xfrm>
            <a:off x="7934697" y="5413028"/>
            <a:ext cx="2628952"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0B0B0C"/>
                </a:solidFill>
                <a:latin typeface="Space Grotesk" pitchFamily="34" charset="0"/>
                <a:ea typeface="Space Grotesk" pitchFamily="34" charset="-122"/>
                <a:cs typeface="Space Grotesk" pitchFamily="34" charset="-120"/>
              </a:rPr>
              <a:t>Push registry</a:t>
            </a:r>
            <a:endParaRPr lang="en-US" sz="1950" dirty="0"/>
          </a:p>
        </p:txBody>
      </p:sp>
      <p:sp>
        <p:nvSpPr>
          <p:cNvPr id="17" name="Text 15"/>
          <p:cNvSpPr/>
          <p:nvPr/>
        </p:nvSpPr>
        <p:spPr>
          <a:xfrm>
            <a:off x="7934697" y="5831160"/>
            <a:ext cx="2628952" cy="309563"/>
          </a:xfrm>
          <a:prstGeom prst="rect">
            <a:avLst/>
          </a:prstGeom>
          <a:noFill/>
          <a:ln/>
        </p:spPr>
        <p:txBody>
          <a:bodyPr wrap="square" lIns="25400" tIns="25400" rIns="25400" bIns="25400" rtlCol="0" anchor="t">
            <a:normAutofit/>
          </a:bodyPr>
          <a:lstStyle/>
          <a:p>
            <a:pPr algn="l" indent="0" marL="0">
              <a:buNone/>
            </a:pPr>
            <a:r>
              <a:rPr lang="en-US" sz="1425" dirty="0">
                <a:solidFill>
                  <a:srgbClr val="73737A"/>
                </a:solidFill>
                <a:latin typeface="Space Mono" pitchFamily="34" charset="0"/>
                <a:ea typeface="Space Mono" pitchFamily="34" charset="-122"/>
                <a:cs typeface="Space Mono" pitchFamily="34" charset="-120"/>
              </a:rPr>
              <a:t>tag = SHA immuable</a:t>
            </a:r>
            <a:endParaRPr lang="en-US" sz="1425" dirty="0"/>
          </a:p>
        </p:txBody>
      </p:sp>
      <p:sp>
        <p:nvSpPr>
          <p:cNvPr id="18" name="Text 16"/>
          <p:cNvSpPr/>
          <p:nvPr/>
        </p:nvSpPr>
        <p:spPr>
          <a:xfrm>
            <a:off x="10719941" y="4708178"/>
            <a:ext cx="236786" cy="1694483"/>
          </a:xfrm>
          <a:prstGeom prst="rect">
            <a:avLst/>
          </a:prstGeom>
          <a:noFill/>
          <a:ln/>
        </p:spPr>
        <p:txBody>
          <a:bodyPr wrap="square" lIns="25400" tIns="25400" rIns="25400" bIns="25400" rtlCol="0" anchor="ctr">
            <a:normAutofit/>
          </a:bodyPr>
          <a:lstStyle/>
          <a:p>
            <a:pPr algn="l" indent="0" marL="0">
              <a:buNone/>
            </a:pPr>
            <a:r>
              <a:rPr lang="en-US" sz="2100" dirty="0">
                <a:solidFill>
                  <a:srgbClr val="73737A"/>
                </a:solidFill>
                <a:latin typeface="Space Mono" pitchFamily="34" charset="0"/>
                <a:ea typeface="Space Mono" pitchFamily="34" charset="-122"/>
                <a:cs typeface="Space Mono" pitchFamily="34" charset="-120"/>
              </a:rPr>
              <a:t>▶</a:t>
            </a:r>
            <a:endParaRPr lang="en-US" sz="2100" dirty="0"/>
          </a:p>
        </p:txBody>
      </p:sp>
      <p:sp>
        <p:nvSpPr>
          <p:cNvPr id="19" name="Shape 17"/>
          <p:cNvSpPr/>
          <p:nvPr/>
        </p:nvSpPr>
        <p:spPr>
          <a:xfrm>
            <a:off x="11051977" y="4708178"/>
            <a:ext cx="2837631" cy="1656383"/>
          </a:xfrm>
          <a:prstGeom prst="rect">
            <a:avLst/>
          </a:prstGeom>
          <a:ln w="14288">
            <a:solidFill>
              <a:srgbClr val="0B0B0C"/>
            </a:solidFill>
            <a:prstDash val="solid"/>
          </a:ln>
        </p:spPr>
      </p:sp>
      <p:sp>
        <p:nvSpPr>
          <p:cNvPr id="20" name="Text 18"/>
          <p:cNvSpPr/>
          <p:nvPr/>
        </p:nvSpPr>
        <p:spPr>
          <a:xfrm>
            <a:off x="11275814" y="4970115"/>
            <a:ext cx="2628952" cy="347663"/>
          </a:xfrm>
          <a:prstGeom prst="rect">
            <a:avLst/>
          </a:prstGeom>
          <a:noFill/>
          <a:ln/>
        </p:spPr>
        <p:txBody>
          <a:bodyPr wrap="square" lIns="25400" tIns="25400" rIns="25400" bIns="25400" rtlCol="0" anchor="t">
            <a:normAutofit/>
          </a:bodyPr>
          <a:lstStyle/>
          <a:p>
            <a:pPr algn="l" indent="0" marL="0">
              <a:buNone/>
            </a:pPr>
            <a:r>
              <a:rPr lang="en-US" sz="1650" dirty="0">
                <a:solidFill>
                  <a:srgbClr val="73737A"/>
                </a:solidFill>
                <a:latin typeface="Space Mono" pitchFamily="34" charset="0"/>
                <a:ea typeface="Space Mono" pitchFamily="34" charset="-122"/>
                <a:cs typeface="Space Mono" pitchFamily="34" charset="-120"/>
              </a:rPr>
              <a:t>04</a:t>
            </a:r>
            <a:endParaRPr lang="en-US" sz="1650" dirty="0"/>
          </a:p>
        </p:txBody>
      </p:sp>
      <p:sp>
        <p:nvSpPr>
          <p:cNvPr id="21" name="Text 19"/>
          <p:cNvSpPr/>
          <p:nvPr/>
        </p:nvSpPr>
        <p:spPr>
          <a:xfrm>
            <a:off x="11275814" y="5413028"/>
            <a:ext cx="2628952"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0B0B0C"/>
                </a:solidFill>
                <a:latin typeface="Space Grotesk" pitchFamily="34" charset="0"/>
                <a:ea typeface="Space Grotesk" pitchFamily="34" charset="-122"/>
                <a:cs typeface="Space Grotesk" pitchFamily="34" charset="-120"/>
              </a:rPr>
              <a:t>Bump tag dans Git</a:t>
            </a:r>
            <a:endParaRPr lang="en-US" sz="1950" dirty="0"/>
          </a:p>
        </p:txBody>
      </p:sp>
      <p:sp>
        <p:nvSpPr>
          <p:cNvPr id="22" name="Text 20"/>
          <p:cNvSpPr/>
          <p:nvPr/>
        </p:nvSpPr>
        <p:spPr>
          <a:xfrm>
            <a:off x="14061058" y="4708178"/>
            <a:ext cx="236786" cy="1694483"/>
          </a:xfrm>
          <a:prstGeom prst="rect">
            <a:avLst/>
          </a:prstGeom>
          <a:noFill/>
          <a:ln/>
        </p:spPr>
        <p:txBody>
          <a:bodyPr wrap="square" lIns="25400" tIns="25400" rIns="25400" bIns="25400" rtlCol="0" anchor="ctr">
            <a:normAutofit/>
          </a:bodyPr>
          <a:lstStyle/>
          <a:p>
            <a:pPr algn="l" indent="0" marL="0">
              <a:buNone/>
            </a:pPr>
            <a:r>
              <a:rPr lang="en-US" sz="2100" dirty="0">
                <a:solidFill>
                  <a:srgbClr val="73737A"/>
                </a:solidFill>
                <a:latin typeface="Space Mono" pitchFamily="34" charset="0"/>
                <a:ea typeface="Space Mono" pitchFamily="34" charset="-122"/>
                <a:cs typeface="Space Mono" pitchFamily="34" charset="-120"/>
              </a:rPr>
              <a:t>▶</a:t>
            </a:r>
            <a:endParaRPr lang="en-US" sz="2100" dirty="0"/>
          </a:p>
        </p:txBody>
      </p:sp>
      <p:sp>
        <p:nvSpPr>
          <p:cNvPr id="23" name="Shape 21"/>
          <p:cNvSpPr/>
          <p:nvPr/>
        </p:nvSpPr>
        <p:spPr>
          <a:xfrm>
            <a:off x="14393094" y="4708178"/>
            <a:ext cx="2866206" cy="1656383"/>
          </a:xfrm>
          <a:prstGeom prst="rect">
            <a:avLst/>
          </a:prstGeom>
          <a:ln w="28575">
            <a:solidFill>
              <a:srgbClr val="0B0B0C"/>
            </a:solidFill>
            <a:prstDash val="solid"/>
          </a:ln>
        </p:spPr>
      </p:sp>
      <p:sp>
        <p:nvSpPr>
          <p:cNvPr id="24" name="Text 22"/>
          <p:cNvSpPr/>
          <p:nvPr/>
        </p:nvSpPr>
        <p:spPr>
          <a:xfrm>
            <a:off x="14631219" y="4984403"/>
            <a:ext cx="2628952" cy="347663"/>
          </a:xfrm>
          <a:prstGeom prst="rect">
            <a:avLst/>
          </a:prstGeom>
          <a:noFill/>
          <a:ln/>
        </p:spPr>
        <p:txBody>
          <a:bodyPr wrap="square" lIns="25400" tIns="25400" rIns="25400" bIns="25400" rtlCol="0" anchor="t">
            <a:normAutofit/>
          </a:bodyPr>
          <a:lstStyle/>
          <a:p>
            <a:pPr algn="l" indent="0" marL="0">
              <a:buNone/>
            </a:pPr>
            <a:r>
              <a:rPr lang="en-US" sz="1650" dirty="0">
                <a:solidFill>
                  <a:srgbClr val="73737A"/>
                </a:solidFill>
                <a:latin typeface="Space Mono" pitchFamily="34" charset="0"/>
                <a:ea typeface="Space Mono" pitchFamily="34" charset="-122"/>
                <a:cs typeface="Space Mono" pitchFamily="34" charset="-120"/>
              </a:rPr>
              <a:t>05</a:t>
            </a:r>
            <a:endParaRPr lang="en-US" sz="1650" dirty="0"/>
          </a:p>
        </p:txBody>
      </p:sp>
      <p:sp>
        <p:nvSpPr>
          <p:cNvPr id="25" name="Text 23"/>
          <p:cNvSpPr/>
          <p:nvPr/>
        </p:nvSpPr>
        <p:spPr>
          <a:xfrm>
            <a:off x="14631219" y="5427315"/>
            <a:ext cx="2628952" cy="322883"/>
          </a:xfrm>
          <a:prstGeom prst="rect">
            <a:avLst/>
          </a:prstGeom>
          <a:noFill/>
          <a:ln/>
        </p:spPr>
        <p:txBody>
          <a:bodyPr wrap="square" lIns="25400" tIns="25400" rIns="25400" bIns="25400" rtlCol="0" anchor="t">
            <a:normAutofit/>
          </a:bodyPr>
          <a:lstStyle/>
          <a:p>
            <a:pPr algn="l" indent="0" marL="0">
              <a:lnSpc>
                <a:spcPct val="115000"/>
              </a:lnSpc>
              <a:buNone/>
            </a:pPr>
            <a:r>
              <a:rPr lang="en-US" sz="1950" b="1" dirty="0">
                <a:solidFill>
                  <a:srgbClr val="0B0B0C"/>
                </a:solidFill>
                <a:latin typeface="Space Grotesk" pitchFamily="34" charset="0"/>
                <a:ea typeface="Space Grotesk" pitchFamily="34" charset="-122"/>
                <a:cs typeface="Space Grotesk" pitchFamily="34" charset="-120"/>
              </a:rPr>
              <a:t>ArgoCD déploie</a:t>
            </a:r>
            <a:endParaRPr lang="en-US" sz="1950" dirty="0"/>
          </a:p>
        </p:txBody>
      </p:sp>
      <p:sp>
        <p:nvSpPr>
          <p:cNvPr id="26" name="Text 24"/>
          <p:cNvSpPr/>
          <p:nvPr/>
        </p:nvSpPr>
        <p:spPr>
          <a:xfrm>
            <a:off x="1028700" y="6688410"/>
            <a:ext cx="1785366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9A9AA0"/>
                </a:solidFill>
                <a:latin typeface="Space Mono" pitchFamily="34" charset="0"/>
                <a:ea typeface="Space Mono" pitchFamily="34" charset="-122"/>
                <a:cs typeface="Space Mono" pitchFamily="34" charset="-120"/>
              </a:rPr>
              <a:t>Le pipeline ne touche jamais le cluster — il met à jour Git, ArgoCD fait le reste.</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2506578"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PRODUCTION-GRADE</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07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Best practices Kubernetes</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Shape 4"/>
          <p:cNvSpPr/>
          <p:nvPr/>
        </p:nvSpPr>
        <p:spPr>
          <a:xfrm>
            <a:off x="1028700" y="2581275"/>
            <a:ext cx="5257800" cy="3357563"/>
          </a:xfrm>
          <a:prstGeom prst="rect">
            <a:avLst/>
          </a:prstGeom>
          <a:ln w="14288">
            <a:solidFill>
              <a:srgbClr val="DCDCDC"/>
            </a:solidFill>
            <a:prstDash val="solid"/>
          </a:ln>
        </p:spPr>
      </p:sp>
      <p:sp>
        <p:nvSpPr>
          <p:cNvPr id="7" name="Text 5"/>
          <p:cNvSpPr/>
          <p:nvPr/>
        </p:nvSpPr>
        <p:spPr>
          <a:xfrm>
            <a:off x="1309688" y="2862263"/>
            <a:ext cx="5165408" cy="333375"/>
          </a:xfrm>
          <a:prstGeom prst="rect">
            <a:avLst/>
          </a:prstGeom>
          <a:noFill/>
          <a:ln/>
        </p:spPr>
        <p:txBody>
          <a:bodyPr wrap="square" lIns="25400" tIns="25400" rIns="25400" bIns="25400" rtlCol="0" anchor="t">
            <a:normAutofit/>
          </a:bodyPr>
          <a:lstStyle/>
          <a:p>
            <a:pPr algn="l" indent="0" marL="0">
              <a:buNone/>
            </a:pPr>
            <a:r>
              <a:rPr lang="en-US" sz="1575" dirty="0">
                <a:solidFill>
                  <a:srgbClr val="73737A"/>
                </a:solidFill>
                <a:latin typeface="Space Mono" pitchFamily="34" charset="0"/>
                <a:ea typeface="Space Mono" pitchFamily="34" charset="-122"/>
                <a:cs typeface="Space Mono" pitchFamily="34" charset="-120"/>
              </a:rPr>
              <a:t>requests / limits</a:t>
            </a:r>
            <a:endParaRPr lang="en-US" sz="1575" dirty="0"/>
          </a:p>
        </p:txBody>
      </p:sp>
      <p:sp>
        <p:nvSpPr>
          <p:cNvPr id="8" name="Text 6"/>
          <p:cNvSpPr/>
          <p:nvPr/>
        </p:nvSpPr>
        <p:spPr>
          <a:xfrm>
            <a:off x="1309688" y="3271838"/>
            <a:ext cx="5165408" cy="331440"/>
          </a:xfrm>
          <a:prstGeom prst="rect">
            <a:avLst/>
          </a:prstGeom>
          <a:noFill/>
          <a:ln/>
        </p:spPr>
        <p:txBody>
          <a:bodyPr wrap="square" lIns="25400" tIns="25400" rIns="25400" bIns="25400" rtlCol="0" anchor="t">
            <a:normAutofit/>
          </a:bodyPr>
          <a:lstStyle/>
          <a:p>
            <a:pPr algn="l" indent="0" marL="0">
              <a:lnSpc>
                <a:spcPct val="110000"/>
              </a:lnSpc>
              <a:buNone/>
            </a:pPr>
            <a:r>
              <a:rPr lang="en-US" sz="2100" b="1" dirty="0">
                <a:solidFill>
                  <a:srgbClr val="0B0B0C"/>
                </a:solidFill>
                <a:latin typeface="Space Grotesk" pitchFamily="34" charset="0"/>
                <a:ea typeface="Space Grotesk" pitchFamily="34" charset="-122"/>
                <a:cs typeface="Space Grotesk" pitchFamily="34" charset="-120"/>
              </a:rPr>
              <a:t>Ressources cadrées</a:t>
            </a:r>
            <a:endParaRPr lang="en-US" sz="2100" dirty="0"/>
          </a:p>
        </p:txBody>
      </p:sp>
      <p:sp>
        <p:nvSpPr>
          <p:cNvPr id="9" name="Text 7"/>
          <p:cNvSpPr/>
          <p:nvPr/>
        </p:nvSpPr>
        <p:spPr>
          <a:xfrm>
            <a:off x="1309688" y="5375002"/>
            <a:ext cx="5165408" cy="320948"/>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73737A"/>
                </a:solidFill>
                <a:latin typeface="Space Grotesk" pitchFamily="34" charset="0"/>
                <a:ea typeface="Space Grotesk" pitchFamily="34" charset="-122"/>
                <a:cs typeface="Space Grotesk" pitchFamily="34" charset="-120"/>
              </a:rPr>
              <a:t>CPU et mémoire bornés par pod.</a:t>
            </a:r>
            <a:endParaRPr lang="en-US" sz="1650" dirty="0"/>
          </a:p>
        </p:txBody>
      </p:sp>
      <p:sp>
        <p:nvSpPr>
          <p:cNvPr id="10" name="Shape 8"/>
          <p:cNvSpPr/>
          <p:nvPr/>
        </p:nvSpPr>
        <p:spPr>
          <a:xfrm>
            <a:off x="6515100" y="2581275"/>
            <a:ext cx="5257800" cy="3357563"/>
          </a:xfrm>
          <a:prstGeom prst="rect">
            <a:avLst/>
          </a:prstGeom>
          <a:ln w="14288">
            <a:solidFill>
              <a:srgbClr val="DCDCDC"/>
            </a:solidFill>
            <a:prstDash val="solid"/>
          </a:ln>
        </p:spPr>
      </p:sp>
      <p:sp>
        <p:nvSpPr>
          <p:cNvPr id="11" name="Text 9"/>
          <p:cNvSpPr/>
          <p:nvPr/>
        </p:nvSpPr>
        <p:spPr>
          <a:xfrm>
            <a:off x="6796088" y="2862263"/>
            <a:ext cx="5165408" cy="333375"/>
          </a:xfrm>
          <a:prstGeom prst="rect">
            <a:avLst/>
          </a:prstGeom>
          <a:noFill/>
          <a:ln/>
        </p:spPr>
        <p:txBody>
          <a:bodyPr wrap="square" lIns="25400" tIns="25400" rIns="25400" bIns="25400" rtlCol="0" anchor="t">
            <a:normAutofit/>
          </a:bodyPr>
          <a:lstStyle/>
          <a:p>
            <a:pPr algn="l" indent="0" marL="0">
              <a:buNone/>
            </a:pPr>
            <a:r>
              <a:rPr lang="en-US" sz="1575" dirty="0">
                <a:solidFill>
                  <a:srgbClr val="73737A"/>
                </a:solidFill>
                <a:latin typeface="Space Mono" pitchFamily="34" charset="0"/>
                <a:ea typeface="Space Mono" pitchFamily="34" charset="-122"/>
                <a:cs typeface="Space Mono" pitchFamily="34" charset="-120"/>
              </a:rPr>
              <a:t>liveness / readiness</a:t>
            </a:r>
            <a:endParaRPr lang="en-US" sz="1575" dirty="0"/>
          </a:p>
        </p:txBody>
      </p:sp>
      <p:sp>
        <p:nvSpPr>
          <p:cNvPr id="12" name="Text 10"/>
          <p:cNvSpPr/>
          <p:nvPr/>
        </p:nvSpPr>
        <p:spPr>
          <a:xfrm>
            <a:off x="6796088" y="3271838"/>
            <a:ext cx="5165408" cy="331440"/>
          </a:xfrm>
          <a:prstGeom prst="rect">
            <a:avLst/>
          </a:prstGeom>
          <a:noFill/>
          <a:ln/>
        </p:spPr>
        <p:txBody>
          <a:bodyPr wrap="square" lIns="25400" tIns="25400" rIns="25400" bIns="25400" rtlCol="0" anchor="t">
            <a:normAutofit/>
          </a:bodyPr>
          <a:lstStyle/>
          <a:p>
            <a:pPr algn="l" indent="0" marL="0">
              <a:lnSpc>
                <a:spcPct val="110000"/>
              </a:lnSpc>
              <a:buNone/>
            </a:pPr>
            <a:r>
              <a:rPr lang="en-US" sz="2100" b="1" dirty="0">
                <a:solidFill>
                  <a:srgbClr val="0B0B0C"/>
                </a:solidFill>
                <a:latin typeface="Space Grotesk" pitchFamily="34" charset="0"/>
                <a:ea typeface="Space Grotesk" pitchFamily="34" charset="-122"/>
                <a:cs typeface="Space Grotesk" pitchFamily="34" charset="-120"/>
              </a:rPr>
              <a:t>Sondes de santé</a:t>
            </a:r>
            <a:endParaRPr lang="en-US" sz="2100" dirty="0"/>
          </a:p>
        </p:txBody>
      </p:sp>
      <p:sp>
        <p:nvSpPr>
          <p:cNvPr id="13" name="Text 11"/>
          <p:cNvSpPr/>
          <p:nvPr/>
        </p:nvSpPr>
        <p:spPr>
          <a:xfrm>
            <a:off x="6796088" y="5092154"/>
            <a:ext cx="4836700" cy="603796"/>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73737A"/>
                </a:solidFill>
                <a:latin typeface="Space Grotesk" pitchFamily="34" charset="0"/>
                <a:ea typeface="Space Grotesk" pitchFamily="34" charset="-122"/>
                <a:cs typeface="Space Grotesk" pitchFamily="34" charset="-120"/>
              </a:rPr>
              <a:t>Redémarrage et retrait du trafic automatiques.</a:t>
            </a:r>
            <a:endParaRPr lang="en-US" sz="1650" dirty="0"/>
          </a:p>
        </p:txBody>
      </p:sp>
      <p:sp>
        <p:nvSpPr>
          <p:cNvPr id="14" name="Shape 12"/>
          <p:cNvSpPr/>
          <p:nvPr/>
        </p:nvSpPr>
        <p:spPr>
          <a:xfrm>
            <a:off x="12001500" y="2581275"/>
            <a:ext cx="5257800" cy="3357563"/>
          </a:xfrm>
          <a:prstGeom prst="rect">
            <a:avLst/>
          </a:prstGeom>
          <a:ln w="14288">
            <a:solidFill>
              <a:srgbClr val="DCDCDC"/>
            </a:solidFill>
            <a:prstDash val="solid"/>
          </a:ln>
        </p:spPr>
      </p:sp>
      <p:sp>
        <p:nvSpPr>
          <p:cNvPr id="15" name="Text 13"/>
          <p:cNvSpPr/>
          <p:nvPr/>
        </p:nvSpPr>
        <p:spPr>
          <a:xfrm>
            <a:off x="12282488" y="2862263"/>
            <a:ext cx="5165408" cy="333375"/>
          </a:xfrm>
          <a:prstGeom prst="rect">
            <a:avLst/>
          </a:prstGeom>
          <a:noFill/>
          <a:ln/>
        </p:spPr>
        <p:txBody>
          <a:bodyPr wrap="square" lIns="25400" tIns="25400" rIns="25400" bIns="25400" rtlCol="0" anchor="t">
            <a:normAutofit/>
          </a:bodyPr>
          <a:lstStyle/>
          <a:p>
            <a:pPr algn="l" indent="0" marL="0">
              <a:buNone/>
            </a:pPr>
            <a:r>
              <a:rPr lang="en-US" sz="1575" dirty="0">
                <a:solidFill>
                  <a:srgbClr val="73737A"/>
                </a:solidFill>
                <a:latin typeface="Space Mono" pitchFamily="34" charset="0"/>
                <a:ea typeface="Space Mono" pitchFamily="34" charset="-122"/>
                <a:cs typeface="Space Mono" pitchFamily="34" charset="-120"/>
              </a:rPr>
              <a:t>HPA</a:t>
            </a:r>
            <a:endParaRPr lang="en-US" sz="1575" dirty="0"/>
          </a:p>
        </p:txBody>
      </p:sp>
      <p:sp>
        <p:nvSpPr>
          <p:cNvPr id="16" name="Text 14"/>
          <p:cNvSpPr/>
          <p:nvPr/>
        </p:nvSpPr>
        <p:spPr>
          <a:xfrm>
            <a:off x="12282488" y="3271838"/>
            <a:ext cx="5165408" cy="331440"/>
          </a:xfrm>
          <a:prstGeom prst="rect">
            <a:avLst/>
          </a:prstGeom>
          <a:noFill/>
          <a:ln/>
        </p:spPr>
        <p:txBody>
          <a:bodyPr wrap="square" lIns="25400" tIns="25400" rIns="25400" bIns="25400" rtlCol="0" anchor="t">
            <a:normAutofit/>
          </a:bodyPr>
          <a:lstStyle/>
          <a:p>
            <a:pPr algn="l" indent="0" marL="0">
              <a:lnSpc>
                <a:spcPct val="110000"/>
              </a:lnSpc>
              <a:buNone/>
            </a:pPr>
            <a:r>
              <a:rPr lang="en-US" sz="2100" b="1" dirty="0">
                <a:solidFill>
                  <a:srgbClr val="0B0B0C"/>
                </a:solidFill>
                <a:latin typeface="Space Grotesk" pitchFamily="34" charset="0"/>
                <a:ea typeface="Space Grotesk" pitchFamily="34" charset="-122"/>
                <a:cs typeface="Space Grotesk" pitchFamily="34" charset="-120"/>
              </a:rPr>
              <a:t>Autoscaling</a:t>
            </a:r>
            <a:endParaRPr lang="en-US" sz="2100" dirty="0"/>
          </a:p>
        </p:txBody>
      </p:sp>
      <p:sp>
        <p:nvSpPr>
          <p:cNvPr id="17" name="Text 15"/>
          <p:cNvSpPr/>
          <p:nvPr/>
        </p:nvSpPr>
        <p:spPr>
          <a:xfrm>
            <a:off x="12282488" y="5375002"/>
            <a:ext cx="5165408" cy="320948"/>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73737A"/>
                </a:solidFill>
                <a:latin typeface="Space Grotesk" pitchFamily="34" charset="0"/>
                <a:ea typeface="Space Grotesk" pitchFamily="34" charset="-122"/>
                <a:cs typeface="Space Grotesk" pitchFamily="34" charset="-120"/>
              </a:rPr>
              <a:t>Répliques ajustées à la charge.</a:t>
            </a:r>
            <a:endParaRPr lang="en-US" sz="1650" dirty="0"/>
          </a:p>
        </p:txBody>
      </p:sp>
      <p:sp>
        <p:nvSpPr>
          <p:cNvPr id="18" name="Shape 16"/>
          <p:cNvSpPr/>
          <p:nvPr/>
        </p:nvSpPr>
        <p:spPr>
          <a:xfrm>
            <a:off x="1028700" y="6167438"/>
            <a:ext cx="5257800" cy="3357563"/>
          </a:xfrm>
          <a:prstGeom prst="rect">
            <a:avLst/>
          </a:prstGeom>
          <a:ln w="14288">
            <a:solidFill>
              <a:srgbClr val="DCDCDC"/>
            </a:solidFill>
            <a:prstDash val="solid"/>
          </a:ln>
        </p:spPr>
      </p:sp>
      <p:sp>
        <p:nvSpPr>
          <p:cNvPr id="19" name="Text 17"/>
          <p:cNvSpPr/>
          <p:nvPr/>
        </p:nvSpPr>
        <p:spPr>
          <a:xfrm>
            <a:off x="1309688" y="6448425"/>
            <a:ext cx="5165408" cy="333375"/>
          </a:xfrm>
          <a:prstGeom prst="rect">
            <a:avLst/>
          </a:prstGeom>
          <a:noFill/>
          <a:ln/>
        </p:spPr>
        <p:txBody>
          <a:bodyPr wrap="square" lIns="25400" tIns="25400" rIns="25400" bIns="25400" rtlCol="0" anchor="t">
            <a:normAutofit/>
          </a:bodyPr>
          <a:lstStyle/>
          <a:p>
            <a:pPr algn="l" indent="0" marL="0">
              <a:buNone/>
            </a:pPr>
            <a:r>
              <a:rPr lang="en-US" sz="1575" dirty="0">
                <a:solidFill>
                  <a:srgbClr val="73737A"/>
                </a:solidFill>
                <a:latin typeface="Space Mono" pitchFamily="34" charset="0"/>
                <a:ea typeface="Space Mono" pitchFamily="34" charset="-122"/>
                <a:cs typeface="Space Mono" pitchFamily="34" charset="-120"/>
              </a:rPr>
              <a:t>podAntiAffinity</a:t>
            </a:r>
            <a:endParaRPr lang="en-US" sz="1575" dirty="0"/>
          </a:p>
        </p:txBody>
      </p:sp>
      <p:sp>
        <p:nvSpPr>
          <p:cNvPr id="20" name="Text 18"/>
          <p:cNvSpPr/>
          <p:nvPr/>
        </p:nvSpPr>
        <p:spPr>
          <a:xfrm>
            <a:off x="1309688" y="6858000"/>
            <a:ext cx="5165408" cy="331440"/>
          </a:xfrm>
          <a:prstGeom prst="rect">
            <a:avLst/>
          </a:prstGeom>
          <a:noFill/>
          <a:ln/>
        </p:spPr>
        <p:txBody>
          <a:bodyPr wrap="square" lIns="25400" tIns="25400" rIns="25400" bIns="25400" rtlCol="0" anchor="t">
            <a:normAutofit/>
          </a:bodyPr>
          <a:lstStyle/>
          <a:p>
            <a:pPr algn="l" indent="0" marL="0">
              <a:lnSpc>
                <a:spcPct val="110000"/>
              </a:lnSpc>
              <a:buNone/>
            </a:pPr>
            <a:r>
              <a:rPr lang="en-US" sz="2100" b="1" dirty="0">
                <a:solidFill>
                  <a:srgbClr val="0B0B0C"/>
                </a:solidFill>
                <a:latin typeface="Space Grotesk" pitchFamily="34" charset="0"/>
                <a:ea typeface="Space Grotesk" pitchFamily="34" charset="-122"/>
                <a:cs typeface="Space Grotesk" pitchFamily="34" charset="-120"/>
              </a:rPr>
              <a:t>Redondance</a:t>
            </a:r>
            <a:endParaRPr lang="en-US" sz="2100" dirty="0"/>
          </a:p>
        </p:txBody>
      </p:sp>
      <p:sp>
        <p:nvSpPr>
          <p:cNvPr id="21" name="Text 19"/>
          <p:cNvSpPr/>
          <p:nvPr/>
        </p:nvSpPr>
        <p:spPr>
          <a:xfrm>
            <a:off x="1309688" y="8961165"/>
            <a:ext cx="5165408" cy="320948"/>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73737A"/>
                </a:solidFill>
                <a:latin typeface="Space Grotesk" pitchFamily="34" charset="0"/>
                <a:ea typeface="Space Grotesk" pitchFamily="34" charset="-122"/>
                <a:cs typeface="Space Grotesk" pitchFamily="34" charset="-120"/>
              </a:rPr>
              <a:t>Répliques réparties sur des nœuds distincts.</a:t>
            </a:r>
            <a:endParaRPr lang="en-US" sz="1650" dirty="0"/>
          </a:p>
        </p:txBody>
      </p:sp>
      <p:sp>
        <p:nvSpPr>
          <p:cNvPr id="22" name="Shape 20"/>
          <p:cNvSpPr/>
          <p:nvPr/>
        </p:nvSpPr>
        <p:spPr>
          <a:xfrm>
            <a:off x="6515100" y="6167438"/>
            <a:ext cx="5257800" cy="3357563"/>
          </a:xfrm>
          <a:prstGeom prst="rect">
            <a:avLst/>
          </a:prstGeom>
          <a:ln w="14288">
            <a:solidFill>
              <a:srgbClr val="DCDCDC"/>
            </a:solidFill>
            <a:prstDash val="solid"/>
          </a:ln>
        </p:spPr>
      </p:sp>
      <p:sp>
        <p:nvSpPr>
          <p:cNvPr id="23" name="Text 21"/>
          <p:cNvSpPr/>
          <p:nvPr/>
        </p:nvSpPr>
        <p:spPr>
          <a:xfrm>
            <a:off x="6796088" y="6448425"/>
            <a:ext cx="5165408" cy="333375"/>
          </a:xfrm>
          <a:prstGeom prst="rect">
            <a:avLst/>
          </a:prstGeom>
          <a:noFill/>
          <a:ln/>
        </p:spPr>
        <p:txBody>
          <a:bodyPr wrap="square" lIns="25400" tIns="25400" rIns="25400" bIns="25400" rtlCol="0" anchor="t">
            <a:normAutofit/>
          </a:bodyPr>
          <a:lstStyle/>
          <a:p>
            <a:pPr algn="l" indent="0" marL="0">
              <a:buNone/>
            </a:pPr>
            <a:r>
              <a:rPr lang="en-US" sz="1575" dirty="0">
                <a:solidFill>
                  <a:srgbClr val="73737A"/>
                </a:solidFill>
                <a:latin typeface="Space Mono" pitchFamily="34" charset="0"/>
                <a:ea typeface="Space Mono" pitchFamily="34" charset="-122"/>
                <a:cs typeface="Space Mono" pitchFamily="34" charset="-120"/>
              </a:rPr>
              <a:t>CronJob</a:t>
            </a:r>
            <a:endParaRPr lang="en-US" sz="1575" dirty="0"/>
          </a:p>
        </p:txBody>
      </p:sp>
      <p:sp>
        <p:nvSpPr>
          <p:cNvPr id="24" name="Text 22"/>
          <p:cNvSpPr/>
          <p:nvPr/>
        </p:nvSpPr>
        <p:spPr>
          <a:xfrm>
            <a:off x="6796088" y="6858000"/>
            <a:ext cx="5165408" cy="331440"/>
          </a:xfrm>
          <a:prstGeom prst="rect">
            <a:avLst/>
          </a:prstGeom>
          <a:noFill/>
          <a:ln/>
        </p:spPr>
        <p:txBody>
          <a:bodyPr wrap="square" lIns="25400" tIns="25400" rIns="25400" bIns="25400" rtlCol="0" anchor="t">
            <a:normAutofit/>
          </a:bodyPr>
          <a:lstStyle/>
          <a:p>
            <a:pPr algn="l" indent="0" marL="0">
              <a:lnSpc>
                <a:spcPct val="110000"/>
              </a:lnSpc>
              <a:buNone/>
            </a:pPr>
            <a:r>
              <a:rPr lang="en-US" sz="2100" b="1" dirty="0">
                <a:solidFill>
                  <a:srgbClr val="0B0B0C"/>
                </a:solidFill>
                <a:latin typeface="Space Grotesk" pitchFamily="34" charset="0"/>
                <a:ea typeface="Space Grotesk" pitchFamily="34" charset="-122"/>
                <a:cs typeface="Space Grotesk" pitchFamily="34" charset="-120"/>
              </a:rPr>
              <a:t>Backups DB</a:t>
            </a:r>
            <a:endParaRPr lang="en-US" sz="2100" dirty="0"/>
          </a:p>
        </p:txBody>
      </p:sp>
      <p:sp>
        <p:nvSpPr>
          <p:cNvPr id="25" name="Text 23"/>
          <p:cNvSpPr/>
          <p:nvPr/>
        </p:nvSpPr>
        <p:spPr>
          <a:xfrm>
            <a:off x="6796088" y="8961165"/>
            <a:ext cx="5165408" cy="320948"/>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73737A"/>
                </a:solidFill>
                <a:latin typeface="Space Grotesk" pitchFamily="34" charset="0"/>
                <a:ea typeface="Space Grotesk" pitchFamily="34" charset="-122"/>
                <a:cs typeface="Space Grotesk" pitchFamily="34" charset="-120"/>
              </a:rPr>
              <a:t>Sauvegardes planifiées, secrets gérés.</a:t>
            </a:r>
            <a:endParaRPr lang="en-US" sz="1650" dirty="0"/>
          </a:p>
        </p:txBody>
      </p:sp>
      <p:sp>
        <p:nvSpPr>
          <p:cNvPr id="26" name="Shape 24"/>
          <p:cNvSpPr/>
          <p:nvPr/>
        </p:nvSpPr>
        <p:spPr>
          <a:xfrm>
            <a:off x="12001500" y="6167438"/>
            <a:ext cx="5257800" cy="3357563"/>
          </a:xfrm>
          <a:prstGeom prst="rect">
            <a:avLst/>
          </a:prstGeom>
          <a:ln w="14288">
            <a:solidFill>
              <a:srgbClr val="DCDCDC"/>
            </a:solidFill>
            <a:prstDash val="solid"/>
          </a:ln>
        </p:spPr>
      </p:sp>
      <p:sp>
        <p:nvSpPr>
          <p:cNvPr id="27" name="Text 25"/>
          <p:cNvSpPr/>
          <p:nvPr/>
        </p:nvSpPr>
        <p:spPr>
          <a:xfrm>
            <a:off x="12282488" y="6448425"/>
            <a:ext cx="5165408" cy="333375"/>
          </a:xfrm>
          <a:prstGeom prst="rect">
            <a:avLst/>
          </a:prstGeom>
          <a:noFill/>
          <a:ln/>
        </p:spPr>
        <p:txBody>
          <a:bodyPr wrap="square" lIns="25400" tIns="25400" rIns="25400" bIns="25400" rtlCol="0" anchor="t">
            <a:normAutofit/>
          </a:bodyPr>
          <a:lstStyle/>
          <a:p>
            <a:pPr algn="l" indent="0" marL="0">
              <a:buNone/>
            </a:pPr>
            <a:r>
              <a:rPr lang="en-US" sz="1575" dirty="0">
                <a:solidFill>
                  <a:srgbClr val="73737A"/>
                </a:solidFill>
                <a:latin typeface="Space Mono" pitchFamily="34" charset="0"/>
                <a:ea typeface="Space Mono" pitchFamily="34" charset="-122"/>
                <a:cs typeface="Space Mono" pitchFamily="34" charset="-120"/>
              </a:rPr>
              <a:t>rolling update</a:t>
            </a:r>
            <a:endParaRPr lang="en-US" sz="1575" dirty="0"/>
          </a:p>
        </p:txBody>
      </p:sp>
      <p:sp>
        <p:nvSpPr>
          <p:cNvPr id="28" name="Text 26"/>
          <p:cNvSpPr/>
          <p:nvPr/>
        </p:nvSpPr>
        <p:spPr>
          <a:xfrm>
            <a:off x="12282488" y="6858000"/>
            <a:ext cx="5165408" cy="331440"/>
          </a:xfrm>
          <a:prstGeom prst="rect">
            <a:avLst/>
          </a:prstGeom>
          <a:noFill/>
          <a:ln/>
        </p:spPr>
        <p:txBody>
          <a:bodyPr wrap="square" lIns="25400" tIns="25400" rIns="25400" bIns="25400" rtlCol="0" anchor="t">
            <a:normAutofit/>
          </a:bodyPr>
          <a:lstStyle/>
          <a:p>
            <a:pPr algn="l" indent="0" marL="0">
              <a:lnSpc>
                <a:spcPct val="110000"/>
              </a:lnSpc>
              <a:buNone/>
            </a:pPr>
            <a:r>
              <a:rPr lang="en-US" sz="2100" b="1" dirty="0">
                <a:solidFill>
                  <a:srgbClr val="0B0B0C"/>
                </a:solidFill>
                <a:latin typeface="Space Grotesk" pitchFamily="34" charset="0"/>
                <a:ea typeface="Space Grotesk" pitchFamily="34" charset="-122"/>
                <a:cs typeface="Space Grotesk" pitchFamily="34" charset="-120"/>
              </a:rPr>
              <a:t>Zéro-downtime</a:t>
            </a:r>
            <a:endParaRPr lang="en-US" sz="2100" dirty="0"/>
          </a:p>
        </p:txBody>
      </p:sp>
      <p:sp>
        <p:nvSpPr>
          <p:cNvPr id="29" name="Text 27"/>
          <p:cNvSpPr/>
          <p:nvPr/>
        </p:nvSpPr>
        <p:spPr>
          <a:xfrm>
            <a:off x="12282488" y="8961165"/>
            <a:ext cx="5165408" cy="320948"/>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73737A"/>
                </a:solidFill>
                <a:latin typeface="Space Grotesk" pitchFamily="34" charset="0"/>
                <a:ea typeface="Space Grotesk" pitchFamily="34" charset="-122"/>
                <a:cs typeface="Space Grotesk" pitchFamily="34" charset="-120"/>
              </a:rPr>
              <a:t>Mises à jour sans interruption.</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1215554"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SÉCURITÉ</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08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Sécurité &amp; contrôle d'accès</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Shape 4"/>
          <p:cNvSpPr/>
          <p:nvPr/>
        </p:nvSpPr>
        <p:spPr>
          <a:xfrm>
            <a:off x="1028700" y="4196730"/>
            <a:ext cx="7886700" cy="28575"/>
          </a:xfrm>
          <a:prstGeom prst="rect">
            <a:avLst/>
          </a:prstGeom>
          <a:solidFill>
            <a:srgbClr val="0B0B0C"/>
          </a:solidFill>
          <a:ln/>
        </p:spPr>
      </p:sp>
      <p:sp>
        <p:nvSpPr>
          <p:cNvPr id="7" name="Text 5"/>
          <p:cNvSpPr/>
          <p:nvPr/>
        </p:nvSpPr>
        <p:spPr>
          <a:xfrm>
            <a:off x="1028700" y="4492005"/>
            <a:ext cx="867537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OPA Gatekeeper</a:t>
            </a:r>
            <a:endParaRPr lang="en-US" sz="1950" dirty="0"/>
          </a:p>
        </p:txBody>
      </p:sp>
      <p:sp>
        <p:nvSpPr>
          <p:cNvPr id="8" name="Text 6"/>
          <p:cNvSpPr/>
          <p:nvPr/>
        </p:nvSpPr>
        <p:spPr>
          <a:xfrm>
            <a:off x="1028700" y="5011117"/>
            <a:ext cx="867537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0B0B0C"/>
                </a:solidFill>
                <a:latin typeface="Space Grotesk" pitchFamily="34" charset="0"/>
                <a:ea typeface="Space Grotesk" pitchFamily="34" charset="-122"/>
                <a:cs typeface="Space Grotesk" pitchFamily="34" charset="-120"/>
              </a:rPr>
              <a:t>Validating webhook</a:t>
            </a:r>
            <a:endParaRPr lang="en-US" sz="3000" dirty="0"/>
          </a:p>
        </p:txBody>
      </p:sp>
      <p:sp>
        <p:nvSpPr>
          <p:cNvPr id="9" name="Text 7"/>
          <p:cNvSpPr/>
          <p:nvPr/>
        </p:nvSpPr>
        <p:spPr>
          <a:xfrm>
            <a:off x="1028700" y="5639767"/>
            <a:ext cx="22532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a:t>
            </a:r>
            <a:endParaRPr lang="en-US" sz="1950" dirty="0"/>
          </a:p>
        </p:txBody>
      </p:sp>
      <p:sp>
        <p:nvSpPr>
          <p:cNvPr id="10" name="Text 8"/>
          <p:cNvSpPr/>
          <p:nvPr/>
        </p:nvSpPr>
        <p:spPr>
          <a:xfrm>
            <a:off x="1311176" y="5639767"/>
            <a:ext cx="3474028" cy="404813"/>
          </a:xfrm>
          <a:prstGeom prst="rect">
            <a:avLst/>
          </a:prstGeom>
          <a:noFill/>
          <a:ln/>
        </p:spPr>
        <p:txBody>
          <a:bodyPr wrap="square" lIns="25400" tIns="25400" rIns="25400" bIns="25400" rtlCol="0" anchor="t">
            <a:normAutofit/>
          </a:bodyPr>
          <a:lstStyle/>
          <a:p>
            <a:pPr algn="l" indent="0" marL="0">
              <a:buNone/>
            </a:pPr>
            <a:r>
              <a:rPr lang="en-US" sz="1950" dirty="0">
                <a:solidFill>
                  <a:srgbClr val="0B0B0C"/>
                </a:solidFill>
                <a:latin typeface="Space Grotesk" pitchFamily="34" charset="0"/>
                <a:ea typeface="Space Grotesk" pitchFamily="34" charset="-122"/>
                <a:cs typeface="Space Grotesk" pitchFamily="34" charset="-120"/>
              </a:rPr>
              <a:t>Refuse les pods </a:t>
            </a:r>
            <a:pPr algn="l" indent="0" marL="0">
              <a:buNone/>
            </a:pPr>
            <a:r>
              <a:rPr lang="en-US" sz="1950" b="1" dirty="0">
                <a:solidFill>
                  <a:srgbClr val="0B0B0C"/>
                </a:solidFill>
                <a:latin typeface="Space Grotesk" pitchFamily="34" charset="0"/>
                <a:ea typeface="Space Grotesk" pitchFamily="34" charset="-122"/>
                <a:cs typeface="Space Grotesk" pitchFamily="34" charset="-120"/>
              </a:rPr>
              <a:t>privileged</a:t>
            </a:r>
            <a:endParaRPr lang="en-US" sz="1950" dirty="0"/>
          </a:p>
        </p:txBody>
      </p:sp>
      <p:sp>
        <p:nvSpPr>
          <p:cNvPr id="11" name="Text 9"/>
          <p:cNvSpPr/>
          <p:nvPr/>
        </p:nvSpPr>
        <p:spPr>
          <a:xfrm>
            <a:off x="1028700" y="6158880"/>
            <a:ext cx="22532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a:t>
            </a:r>
            <a:endParaRPr lang="en-US" sz="1950" dirty="0"/>
          </a:p>
        </p:txBody>
      </p:sp>
      <p:sp>
        <p:nvSpPr>
          <p:cNvPr id="12" name="Text 10"/>
          <p:cNvSpPr/>
          <p:nvPr/>
        </p:nvSpPr>
        <p:spPr>
          <a:xfrm>
            <a:off x="1311176" y="6158880"/>
            <a:ext cx="3618667" cy="404813"/>
          </a:xfrm>
          <a:prstGeom prst="rect">
            <a:avLst/>
          </a:prstGeom>
          <a:noFill/>
          <a:ln/>
        </p:spPr>
        <p:txBody>
          <a:bodyPr wrap="square" lIns="25400" tIns="25400" rIns="25400" bIns="25400" rtlCol="0" anchor="t">
            <a:normAutofit/>
          </a:bodyPr>
          <a:lstStyle/>
          <a:p>
            <a:pPr algn="l" indent="0" marL="0">
              <a:buNone/>
            </a:pPr>
            <a:r>
              <a:rPr lang="en-US" sz="1950" dirty="0">
                <a:solidFill>
                  <a:srgbClr val="0B0B0C"/>
                </a:solidFill>
                <a:latin typeface="Space Grotesk" pitchFamily="34" charset="0"/>
                <a:ea typeface="Space Grotesk" pitchFamily="34" charset="-122"/>
                <a:cs typeface="Space Grotesk" pitchFamily="34" charset="-120"/>
              </a:rPr>
              <a:t>Refuse les pods </a:t>
            </a:r>
            <a:pPr algn="l" indent="0" marL="0">
              <a:buNone/>
            </a:pPr>
            <a:r>
              <a:rPr lang="en-US" sz="1950" b="1" dirty="0">
                <a:solidFill>
                  <a:srgbClr val="0B0B0C"/>
                </a:solidFill>
                <a:latin typeface="Space Grotesk" pitchFamily="34" charset="0"/>
                <a:ea typeface="Space Grotesk" pitchFamily="34" charset="-122"/>
                <a:cs typeface="Space Grotesk" pitchFamily="34" charset="-120"/>
              </a:rPr>
              <a:t>sans labels</a:t>
            </a:r>
            <a:endParaRPr lang="en-US" sz="1950" dirty="0"/>
          </a:p>
        </p:txBody>
      </p:sp>
      <p:sp>
        <p:nvSpPr>
          <p:cNvPr id="13" name="Text 11"/>
          <p:cNvSpPr/>
          <p:nvPr/>
        </p:nvSpPr>
        <p:spPr>
          <a:xfrm>
            <a:off x="1028700" y="6677992"/>
            <a:ext cx="22532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a:t>
            </a:r>
            <a:endParaRPr lang="en-US" sz="1950" dirty="0"/>
          </a:p>
        </p:txBody>
      </p:sp>
      <p:sp>
        <p:nvSpPr>
          <p:cNvPr id="14" name="Text 12"/>
          <p:cNvSpPr/>
          <p:nvPr/>
        </p:nvSpPr>
        <p:spPr>
          <a:xfrm>
            <a:off x="1311176" y="6677992"/>
            <a:ext cx="371190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0B0B0C"/>
                </a:solidFill>
                <a:latin typeface="Space Grotesk" pitchFamily="34" charset="0"/>
                <a:ea typeface="Space Grotesk" pitchFamily="34" charset="-122"/>
                <a:cs typeface="Space Grotesk" pitchFamily="34" charset="-120"/>
              </a:rPr>
              <a:t>Refuse les pods </a:t>
            </a:r>
            <a:pPr algn="l" indent="0" marL="0">
              <a:buNone/>
            </a:pPr>
            <a:r>
              <a:rPr lang="en-US" sz="1950" b="1" dirty="0">
                <a:solidFill>
                  <a:srgbClr val="0B0B0C"/>
                </a:solidFill>
                <a:latin typeface="Space Grotesk" pitchFamily="34" charset="0"/>
                <a:ea typeface="Space Grotesk" pitchFamily="34" charset="-122"/>
                <a:cs typeface="Space Grotesk" pitchFamily="34" charset="-120"/>
              </a:rPr>
              <a:t>sans limites</a:t>
            </a:r>
            <a:endParaRPr lang="en-US" sz="1950" dirty="0"/>
          </a:p>
        </p:txBody>
      </p:sp>
      <p:sp>
        <p:nvSpPr>
          <p:cNvPr id="15" name="Text 13"/>
          <p:cNvSpPr/>
          <p:nvPr/>
        </p:nvSpPr>
        <p:spPr>
          <a:xfrm>
            <a:off x="1028700" y="7273305"/>
            <a:ext cx="867537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73737A"/>
                </a:solidFill>
                <a:latin typeface="Space Grotesk" pitchFamily="34" charset="0"/>
                <a:ea typeface="Space Grotesk" pitchFamily="34" charset="-122"/>
                <a:cs typeface="Space Grotesk" pitchFamily="34" charset="-120"/>
              </a:rPr>
              <a:t>Les règles sont imposées par le cluster, pas par la discipline.</a:t>
            </a:r>
            <a:endParaRPr lang="en-US" sz="1650" dirty="0"/>
          </a:p>
        </p:txBody>
      </p:sp>
      <p:sp>
        <p:nvSpPr>
          <p:cNvPr id="16" name="Shape 14"/>
          <p:cNvSpPr/>
          <p:nvPr/>
        </p:nvSpPr>
        <p:spPr>
          <a:xfrm>
            <a:off x="9372600" y="4196730"/>
            <a:ext cx="7886700" cy="28575"/>
          </a:xfrm>
          <a:prstGeom prst="rect">
            <a:avLst/>
          </a:prstGeom>
          <a:solidFill>
            <a:srgbClr val="0B0B0C"/>
          </a:solidFill>
          <a:ln/>
        </p:spPr>
      </p:sp>
      <p:sp>
        <p:nvSpPr>
          <p:cNvPr id="17" name="Text 15"/>
          <p:cNvSpPr/>
          <p:nvPr/>
        </p:nvSpPr>
        <p:spPr>
          <a:xfrm>
            <a:off x="9372600" y="4492005"/>
            <a:ext cx="867537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Dex + oauth2-proxy</a:t>
            </a:r>
            <a:endParaRPr lang="en-US" sz="1950" dirty="0"/>
          </a:p>
        </p:txBody>
      </p:sp>
      <p:sp>
        <p:nvSpPr>
          <p:cNvPr id="18" name="Text 16"/>
          <p:cNvSpPr/>
          <p:nvPr/>
        </p:nvSpPr>
        <p:spPr>
          <a:xfrm>
            <a:off x="9372600" y="5011117"/>
            <a:ext cx="867537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0B0B0C"/>
                </a:solidFill>
                <a:latin typeface="Space Grotesk" pitchFamily="34" charset="0"/>
                <a:ea typeface="Space Grotesk" pitchFamily="34" charset="-122"/>
                <a:cs typeface="Space Grotesk" pitchFamily="34" charset="-120"/>
              </a:rPr>
              <a:t>Authentification OIDC</a:t>
            </a:r>
            <a:endParaRPr lang="en-US" sz="3000" dirty="0"/>
          </a:p>
        </p:txBody>
      </p:sp>
      <p:sp>
        <p:nvSpPr>
          <p:cNvPr id="19" name="Text 17"/>
          <p:cNvSpPr/>
          <p:nvPr/>
        </p:nvSpPr>
        <p:spPr>
          <a:xfrm>
            <a:off x="9372600" y="5639767"/>
            <a:ext cx="22532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a:t>
            </a:r>
            <a:endParaRPr lang="en-US" sz="1950" dirty="0"/>
          </a:p>
        </p:txBody>
      </p:sp>
      <p:sp>
        <p:nvSpPr>
          <p:cNvPr id="20" name="Text 18"/>
          <p:cNvSpPr/>
          <p:nvPr/>
        </p:nvSpPr>
        <p:spPr>
          <a:xfrm>
            <a:off x="9655076" y="5639767"/>
            <a:ext cx="3720658" cy="404813"/>
          </a:xfrm>
          <a:prstGeom prst="rect">
            <a:avLst/>
          </a:prstGeom>
          <a:noFill/>
          <a:ln/>
        </p:spPr>
        <p:txBody>
          <a:bodyPr wrap="square" lIns="25400" tIns="25400" rIns="25400" bIns="25400" rtlCol="0" anchor="t">
            <a:normAutofit/>
          </a:bodyPr>
          <a:lstStyle/>
          <a:p>
            <a:pPr algn="l" indent="0" marL="0">
              <a:buNone/>
            </a:pPr>
            <a:r>
              <a:rPr lang="en-US" sz="1950" b="1" dirty="0">
                <a:solidFill>
                  <a:srgbClr val="0B0B0C"/>
                </a:solidFill>
                <a:latin typeface="Space Grotesk" pitchFamily="34" charset="0"/>
                <a:ea typeface="Space Grotesk" pitchFamily="34" charset="-122"/>
                <a:cs typeface="Space Grotesk" pitchFamily="34" charset="-120"/>
              </a:rPr>
              <a:t>Dex </a:t>
            </a:r>
            <a:pPr algn="l" indent="0" marL="0">
              <a:buNone/>
            </a:pPr>
            <a:r>
              <a:rPr lang="en-US" sz="1950" dirty="0">
                <a:solidFill>
                  <a:srgbClr val="0B0B0C"/>
                </a:solidFill>
                <a:latin typeface="Space Grotesk" pitchFamily="34" charset="0"/>
                <a:ea typeface="Space Grotesk" pitchFamily="34" charset="-122"/>
                <a:cs typeface="Space Grotesk" pitchFamily="34" charset="-120"/>
              </a:rPr>
              <a:t>— fournisseur d'identité</a:t>
            </a:r>
            <a:endParaRPr lang="en-US" sz="1950" dirty="0"/>
          </a:p>
        </p:txBody>
      </p:sp>
      <p:sp>
        <p:nvSpPr>
          <p:cNvPr id="21" name="Text 19"/>
          <p:cNvSpPr/>
          <p:nvPr/>
        </p:nvSpPr>
        <p:spPr>
          <a:xfrm>
            <a:off x="9372600" y="6158880"/>
            <a:ext cx="22532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a:t>
            </a:r>
            <a:endParaRPr lang="en-US" sz="1950" dirty="0"/>
          </a:p>
        </p:txBody>
      </p:sp>
      <p:sp>
        <p:nvSpPr>
          <p:cNvPr id="22" name="Text 20"/>
          <p:cNvSpPr/>
          <p:nvPr/>
        </p:nvSpPr>
        <p:spPr>
          <a:xfrm>
            <a:off x="9655076" y="6158880"/>
            <a:ext cx="4210563" cy="404813"/>
          </a:xfrm>
          <a:prstGeom prst="rect">
            <a:avLst/>
          </a:prstGeom>
          <a:noFill/>
          <a:ln/>
        </p:spPr>
        <p:txBody>
          <a:bodyPr wrap="square" lIns="25400" tIns="25400" rIns="25400" bIns="25400" rtlCol="0" anchor="t">
            <a:normAutofit/>
          </a:bodyPr>
          <a:lstStyle/>
          <a:p>
            <a:pPr algn="l" indent="0" marL="0">
              <a:buNone/>
            </a:pPr>
            <a:r>
              <a:rPr lang="en-US" sz="1950" b="1" dirty="0">
                <a:solidFill>
                  <a:srgbClr val="0B0B0C"/>
                </a:solidFill>
                <a:latin typeface="Space Grotesk" pitchFamily="34" charset="0"/>
                <a:ea typeface="Space Grotesk" pitchFamily="34" charset="-122"/>
                <a:cs typeface="Space Grotesk" pitchFamily="34" charset="-120"/>
              </a:rPr>
              <a:t>oauth2-proxy </a:t>
            </a:r>
            <a:pPr algn="l" indent="0" marL="0">
              <a:buNone/>
            </a:pPr>
            <a:r>
              <a:rPr lang="en-US" sz="1950" dirty="0">
                <a:solidFill>
                  <a:srgbClr val="0B0B0C"/>
                </a:solidFill>
                <a:latin typeface="Space Grotesk" pitchFamily="34" charset="0"/>
                <a:ea typeface="Space Grotesk" pitchFamily="34" charset="-122"/>
                <a:cs typeface="Space Grotesk" pitchFamily="34" charset="-120"/>
              </a:rPr>
              <a:t>— façade d'accès</a:t>
            </a:r>
            <a:endParaRPr lang="en-US" sz="1950" dirty="0"/>
          </a:p>
        </p:txBody>
      </p:sp>
      <p:sp>
        <p:nvSpPr>
          <p:cNvPr id="23" name="Text 21"/>
          <p:cNvSpPr/>
          <p:nvPr/>
        </p:nvSpPr>
        <p:spPr>
          <a:xfrm>
            <a:off x="9372600" y="6754192"/>
            <a:ext cx="867537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73737A"/>
                </a:solidFill>
                <a:latin typeface="Space Grotesk" pitchFamily="34" charset="0"/>
                <a:ea typeface="Space Grotesk" pitchFamily="34" charset="-122"/>
                <a:cs typeface="Space Grotesk" pitchFamily="34" charset="-120"/>
              </a:rPr>
              <a:t>Aucun accès aux dashboards d'administration sans authentification.</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2036646"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OBSERVABILITÉ</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09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Observabilité</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Text 4"/>
          <p:cNvSpPr/>
          <p:nvPr/>
        </p:nvSpPr>
        <p:spPr>
          <a:xfrm>
            <a:off x="1028700" y="4701555"/>
            <a:ext cx="5699760"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b="1" dirty="0">
                <a:solidFill>
                  <a:srgbClr val="0B0B0C"/>
                </a:solidFill>
                <a:latin typeface="Space Mono" pitchFamily="34" charset="0"/>
                <a:ea typeface="Space Mono" pitchFamily="34" charset="-122"/>
                <a:cs typeface="Space Mono" pitchFamily="34" charset="-120"/>
              </a:rPr>
              <a:t>01</a:t>
            </a:r>
            <a:endParaRPr lang="en-US" sz="6600" dirty="0"/>
          </a:p>
        </p:txBody>
      </p:sp>
      <p:sp>
        <p:nvSpPr>
          <p:cNvPr id="7" name="Text 5"/>
          <p:cNvSpPr/>
          <p:nvPr/>
        </p:nvSpPr>
        <p:spPr>
          <a:xfrm>
            <a:off x="1028700" y="5711205"/>
            <a:ext cx="569976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0B0B0C"/>
                </a:solidFill>
                <a:latin typeface="Space Grotesk" pitchFamily="34" charset="0"/>
                <a:ea typeface="Space Grotesk" pitchFamily="34" charset="-122"/>
                <a:cs typeface="Space Grotesk" pitchFamily="34" charset="-120"/>
              </a:rPr>
              <a:t>Prometheus</a:t>
            </a:r>
            <a:endParaRPr lang="en-US" sz="3000" dirty="0"/>
          </a:p>
        </p:txBody>
      </p:sp>
      <p:sp>
        <p:nvSpPr>
          <p:cNvPr id="8" name="Text 6"/>
          <p:cNvSpPr/>
          <p:nvPr/>
        </p:nvSpPr>
        <p:spPr>
          <a:xfrm>
            <a:off x="1028700" y="6368430"/>
            <a:ext cx="5337048"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73737A"/>
                </a:solidFill>
                <a:latin typeface="Space Grotesk" pitchFamily="34" charset="0"/>
                <a:ea typeface="Space Grotesk" pitchFamily="34" charset="-122"/>
                <a:cs typeface="Space Grotesk" pitchFamily="34" charset="-120"/>
              </a:rPr>
              <a:t>Métriques — CPU, mémoire, état des pods, latences.</a:t>
            </a:r>
            <a:endParaRPr lang="en-US" sz="1950" dirty="0"/>
          </a:p>
        </p:txBody>
      </p:sp>
      <p:sp>
        <p:nvSpPr>
          <p:cNvPr id="9" name="Text 7"/>
          <p:cNvSpPr/>
          <p:nvPr/>
        </p:nvSpPr>
        <p:spPr>
          <a:xfrm>
            <a:off x="6553200" y="4701555"/>
            <a:ext cx="5699760"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b="1" dirty="0">
                <a:solidFill>
                  <a:srgbClr val="0B0B0C"/>
                </a:solidFill>
                <a:latin typeface="Space Mono" pitchFamily="34" charset="0"/>
                <a:ea typeface="Space Mono" pitchFamily="34" charset="-122"/>
                <a:cs typeface="Space Mono" pitchFamily="34" charset="-120"/>
              </a:rPr>
              <a:t>02</a:t>
            </a:r>
            <a:endParaRPr lang="en-US" sz="6600" dirty="0"/>
          </a:p>
        </p:txBody>
      </p:sp>
      <p:sp>
        <p:nvSpPr>
          <p:cNvPr id="10" name="Text 8"/>
          <p:cNvSpPr/>
          <p:nvPr/>
        </p:nvSpPr>
        <p:spPr>
          <a:xfrm>
            <a:off x="6553200" y="5711205"/>
            <a:ext cx="569976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0B0B0C"/>
                </a:solidFill>
                <a:latin typeface="Space Grotesk" pitchFamily="34" charset="0"/>
                <a:ea typeface="Space Grotesk" pitchFamily="34" charset="-122"/>
                <a:cs typeface="Space Grotesk" pitchFamily="34" charset="-120"/>
              </a:rPr>
              <a:t>Grafana</a:t>
            </a:r>
            <a:endParaRPr lang="en-US" sz="3000" dirty="0"/>
          </a:p>
        </p:txBody>
      </p:sp>
      <p:sp>
        <p:nvSpPr>
          <p:cNvPr id="11" name="Text 9"/>
          <p:cNvSpPr/>
          <p:nvPr/>
        </p:nvSpPr>
        <p:spPr>
          <a:xfrm>
            <a:off x="6553200" y="6368430"/>
            <a:ext cx="5699760"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73737A"/>
                </a:solidFill>
                <a:latin typeface="Space Grotesk" pitchFamily="34" charset="0"/>
                <a:ea typeface="Space Grotesk" pitchFamily="34" charset="-122"/>
                <a:cs typeface="Space Grotesk" pitchFamily="34" charset="-120"/>
              </a:rPr>
              <a:t>Dashboards — visualisation et alerting.</a:t>
            </a:r>
            <a:endParaRPr lang="en-US" sz="1950" dirty="0"/>
          </a:p>
        </p:txBody>
      </p:sp>
      <p:sp>
        <p:nvSpPr>
          <p:cNvPr id="12" name="Text 10"/>
          <p:cNvSpPr/>
          <p:nvPr/>
        </p:nvSpPr>
        <p:spPr>
          <a:xfrm>
            <a:off x="12077700" y="4701555"/>
            <a:ext cx="5699760"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b="1" dirty="0">
                <a:solidFill>
                  <a:srgbClr val="0B0B0C"/>
                </a:solidFill>
                <a:latin typeface="Space Mono" pitchFamily="34" charset="0"/>
                <a:ea typeface="Space Mono" pitchFamily="34" charset="-122"/>
                <a:cs typeface="Space Mono" pitchFamily="34" charset="-120"/>
              </a:rPr>
              <a:t>03</a:t>
            </a:r>
            <a:endParaRPr lang="en-US" sz="6600" dirty="0"/>
          </a:p>
        </p:txBody>
      </p:sp>
      <p:sp>
        <p:nvSpPr>
          <p:cNvPr id="13" name="Text 11"/>
          <p:cNvSpPr/>
          <p:nvPr/>
        </p:nvSpPr>
        <p:spPr>
          <a:xfrm>
            <a:off x="12077700" y="5711205"/>
            <a:ext cx="569976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0B0B0C"/>
                </a:solidFill>
                <a:latin typeface="Space Grotesk" pitchFamily="34" charset="0"/>
                <a:ea typeface="Space Grotesk" pitchFamily="34" charset="-122"/>
                <a:cs typeface="Space Grotesk" pitchFamily="34" charset="-120"/>
              </a:rPr>
              <a:t>Loki</a:t>
            </a:r>
            <a:endParaRPr lang="en-US" sz="3000" dirty="0"/>
          </a:p>
        </p:txBody>
      </p:sp>
      <p:sp>
        <p:nvSpPr>
          <p:cNvPr id="14" name="Text 12"/>
          <p:cNvSpPr/>
          <p:nvPr/>
        </p:nvSpPr>
        <p:spPr>
          <a:xfrm>
            <a:off x="12077700" y="6368430"/>
            <a:ext cx="5699760"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73737A"/>
                </a:solidFill>
                <a:latin typeface="Space Grotesk" pitchFamily="34" charset="0"/>
                <a:ea typeface="Space Grotesk" pitchFamily="34" charset="-122"/>
                <a:cs typeface="Space Grotesk" pitchFamily="34" charset="-120"/>
              </a:rPr>
              <a:t>Logs — centralisés, collectés par Promtail.</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1028700" y="762000"/>
            <a:ext cx="1409960"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9A9AA0"/>
                </a:solidFill>
                <a:latin typeface="Space Mono" pitchFamily="34" charset="0"/>
                <a:ea typeface="Space Mono" pitchFamily="34" charset="-122"/>
                <a:cs typeface="Space Mono" pitchFamily="34" charset="-120"/>
              </a:rPr>
              <a:t>DÉMO LIVE</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9A9AA0"/>
                </a:solidFill>
                <a:latin typeface="Space Mono" pitchFamily="34" charset="0"/>
                <a:ea typeface="Space Mono" pitchFamily="34" charset="-122"/>
                <a:cs typeface="Space Mono" pitchFamily="34" charset="-120"/>
              </a:rPr>
              <a:t>10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FFFFFF"/>
                </a:solidFill>
                <a:latin typeface="Space Grotesk" pitchFamily="34" charset="0"/>
                <a:ea typeface="Space Grotesk" pitchFamily="34" charset="-122"/>
                <a:cs typeface="Space Grotesk" pitchFamily="34" charset="-120"/>
              </a:rPr>
              <a:t>Démo live — ce que je vais montrer</a:t>
            </a:r>
            <a:endParaRPr lang="en-US" sz="4650" dirty="0"/>
          </a:p>
        </p:txBody>
      </p:sp>
      <p:sp>
        <p:nvSpPr>
          <p:cNvPr id="5" name="Shape 3"/>
          <p:cNvSpPr/>
          <p:nvPr/>
        </p:nvSpPr>
        <p:spPr>
          <a:xfrm>
            <a:off x="1028700" y="2228850"/>
            <a:ext cx="16230600" cy="9525"/>
          </a:xfrm>
          <a:prstGeom prst="rect">
            <a:avLst/>
          </a:prstGeom>
          <a:solidFill>
            <a:srgbClr val="2C2C30"/>
          </a:solidFill>
          <a:ln/>
        </p:spPr>
      </p:sp>
      <p:sp>
        <p:nvSpPr>
          <p:cNvPr id="6" name="Shape 4"/>
          <p:cNvSpPr/>
          <p:nvPr/>
        </p:nvSpPr>
        <p:spPr>
          <a:xfrm>
            <a:off x="1028700" y="4695825"/>
            <a:ext cx="7848600" cy="9525"/>
          </a:xfrm>
          <a:prstGeom prst="rect">
            <a:avLst/>
          </a:prstGeom>
          <a:solidFill>
            <a:srgbClr val="2C2C30"/>
          </a:solidFill>
          <a:ln/>
        </p:spPr>
      </p:sp>
      <p:sp>
        <p:nvSpPr>
          <p:cNvPr id="7" name="Text 5"/>
          <p:cNvSpPr/>
          <p:nvPr/>
        </p:nvSpPr>
        <p:spPr>
          <a:xfrm>
            <a:off x="1028700" y="4933950"/>
            <a:ext cx="449312" cy="490538"/>
          </a:xfrm>
          <a:prstGeom prst="rect">
            <a:avLst/>
          </a:prstGeom>
          <a:noFill/>
          <a:ln/>
        </p:spPr>
        <p:txBody>
          <a:bodyPr wrap="square" lIns="25400" tIns="25400" rIns="25400" bIns="25400" rtlCol="0" anchor="t">
            <a:normAutofit/>
          </a:bodyPr>
          <a:lstStyle/>
          <a:p>
            <a:pPr algn="l" indent="0" marL="0">
              <a:buNone/>
            </a:pPr>
            <a:r>
              <a:rPr lang="en-US" sz="2400" dirty="0">
                <a:solidFill>
                  <a:srgbClr val="9A9AA0"/>
                </a:solidFill>
                <a:latin typeface="Space Mono" pitchFamily="34" charset="0"/>
                <a:ea typeface="Space Mono" pitchFamily="34" charset="-122"/>
                <a:cs typeface="Space Mono" pitchFamily="34" charset="-120"/>
              </a:rPr>
              <a:t>01</a:t>
            </a:r>
            <a:endParaRPr lang="en-US" sz="2400" dirty="0"/>
          </a:p>
        </p:txBody>
      </p:sp>
      <p:sp>
        <p:nvSpPr>
          <p:cNvPr id="8" name="Text 6"/>
          <p:cNvSpPr/>
          <p:nvPr/>
        </p:nvSpPr>
        <p:spPr>
          <a:xfrm>
            <a:off x="1630412" y="4933950"/>
            <a:ext cx="4682542" cy="452438"/>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Space Grotesk" pitchFamily="34" charset="0"/>
                <a:ea typeface="Space Grotesk" pitchFamily="34" charset="-122"/>
                <a:cs typeface="Space Grotesk" pitchFamily="34" charset="-120"/>
              </a:rPr>
              <a:t>Auto-scaling sous charge</a:t>
            </a:r>
            <a:endParaRPr lang="en-US" sz="2550" dirty="0"/>
          </a:p>
        </p:txBody>
      </p:sp>
      <p:sp>
        <p:nvSpPr>
          <p:cNvPr id="9" name="Text 7"/>
          <p:cNvSpPr/>
          <p:nvPr/>
        </p:nvSpPr>
        <p:spPr>
          <a:xfrm>
            <a:off x="1630412" y="5424488"/>
            <a:ext cx="468254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B0B0B6"/>
                </a:solidFill>
                <a:latin typeface="Space Grotesk" pitchFamily="34" charset="0"/>
                <a:ea typeface="Space Grotesk" pitchFamily="34" charset="-122"/>
                <a:cs typeface="Space Grotesk" pitchFamily="34" charset="-120"/>
              </a:rPr>
              <a:t>Le HPA crée des répliques en direct.</a:t>
            </a:r>
            <a:endParaRPr lang="en-US" sz="1950" dirty="0"/>
          </a:p>
        </p:txBody>
      </p:sp>
      <p:sp>
        <p:nvSpPr>
          <p:cNvPr id="10" name="Shape 8"/>
          <p:cNvSpPr/>
          <p:nvPr/>
        </p:nvSpPr>
        <p:spPr>
          <a:xfrm>
            <a:off x="9410700" y="4695825"/>
            <a:ext cx="7848600" cy="9525"/>
          </a:xfrm>
          <a:prstGeom prst="rect">
            <a:avLst/>
          </a:prstGeom>
          <a:solidFill>
            <a:srgbClr val="2C2C30"/>
          </a:solidFill>
          <a:ln/>
        </p:spPr>
      </p:sp>
      <p:sp>
        <p:nvSpPr>
          <p:cNvPr id="11" name="Text 9"/>
          <p:cNvSpPr/>
          <p:nvPr/>
        </p:nvSpPr>
        <p:spPr>
          <a:xfrm>
            <a:off x="9410700" y="4933950"/>
            <a:ext cx="449312" cy="490538"/>
          </a:xfrm>
          <a:prstGeom prst="rect">
            <a:avLst/>
          </a:prstGeom>
          <a:noFill/>
          <a:ln/>
        </p:spPr>
        <p:txBody>
          <a:bodyPr wrap="square" lIns="25400" tIns="25400" rIns="25400" bIns="25400" rtlCol="0" anchor="t">
            <a:normAutofit/>
          </a:bodyPr>
          <a:lstStyle/>
          <a:p>
            <a:pPr algn="l" indent="0" marL="0">
              <a:buNone/>
            </a:pPr>
            <a:r>
              <a:rPr lang="en-US" sz="2400" dirty="0">
                <a:solidFill>
                  <a:srgbClr val="9A9AA0"/>
                </a:solidFill>
                <a:latin typeface="Space Mono" pitchFamily="34" charset="0"/>
                <a:ea typeface="Space Mono" pitchFamily="34" charset="-122"/>
                <a:cs typeface="Space Mono" pitchFamily="34" charset="-120"/>
              </a:rPr>
              <a:t>02</a:t>
            </a:r>
            <a:endParaRPr lang="en-US" sz="2400" dirty="0"/>
          </a:p>
        </p:txBody>
      </p:sp>
      <p:sp>
        <p:nvSpPr>
          <p:cNvPr id="12" name="Text 10"/>
          <p:cNvSpPr/>
          <p:nvPr/>
        </p:nvSpPr>
        <p:spPr>
          <a:xfrm>
            <a:off x="10012412" y="4933950"/>
            <a:ext cx="5574030" cy="452438"/>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Space Grotesk" pitchFamily="34" charset="0"/>
                <a:ea typeface="Space Grotesk" pitchFamily="34" charset="-122"/>
                <a:cs typeface="Space Grotesk" pitchFamily="34" charset="-120"/>
              </a:rPr>
              <a:t>Rollback automatique</a:t>
            </a:r>
            <a:endParaRPr lang="en-US" sz="2550" dirty="0"/>
          </a:p>
        </p:txBody>
      </p:sp>
      <p:sp>
        <p:nvSpPr>
          <p:cNvPr id="13" name="Text 11"/>
          <p:cNvSpPr/>
          <p:nvPr/>
        </p:nvSpPr>
        <p:spPr>
          <a:xfrm>
            <a:off x="10012412" y="5424488"/>
            <a:ext cx="5574030" cy="352425"/>
          </a:xfrm>
          <a:prstGeom prst="rect">
            <a:avLst/>
          </a:prstGeom>
          <a:noFill/>
          <a:ln/>
        </p:spPr>
        <p:txBody>
          <a:bodyPr wrap="square" lIns="25400" tIns="25400" rIns="25400" bIns="25400" rtlCol="0" anchor="t">
            <a:normAutofit/>
          </a:bodyPr>
          <a:lstStyle/>
          <a:p>
            <a:pPr algn="l" indent="0" marL="0">
              <a:buNone/>
            </a:pPr>
            <a:r>
              <a:rPr lang="en-US" sz="1950" dirty="0">
                <a:solidFill>
                  <a:srgbClr val="B0B0B6"/>
                </a:solidFill>
                <a:latin typeface="Space Grotesk" pitchFamily="34" charset="0"/>
                <a:ea typeface="Space Grotesk" pitchFamily="34" charset="-122"/>
                <a:cs typeface="Space Grotesk" pitchFamily="34" charset="-120"/>
              </a:rPr>
              <a:t>Déploiement cassé → retour version saine.</a:t>
            </a:r>
            <a:endParaRPr lang="en-US" sz="1950" dirty="0"/>
          </a:p>
        </p:txBody>
      </p:sp>
      <p:sp>
        <p:nvSpPr>
          <p:cNvPr id="14" name="Shape 12"/>
          <p:cNvSpPr/>
          <p:nvPr/>
        </p:nvSpPr>
        <p:spPr>
          <a:xfrm>
            <a:off x="1028700" y="6024563"/>
            <a:ext cx="7848600" cy="9525"/>
          </a:xfrm>
          <a:prstGeom prst="rect">
            <a:avLst/>
          </a:prstGeom>
          <a:solidFill>
            <a:srgbClr val="2C2C30"/>
          </a:solidFill>
          <a:ln/>
        </p:spPr>
      </p:sp>
      <p:sp>
        <p:nvSpPr>
          <p:cNvPr id="15" name="Text 13"/>
          <p:cNvSpPr/>
          <p:nvPr/>
        </p:nvSpPr>
        <p:spPr>
          <a:xfrm>
            <a:off x="1028700" y="6262688"/>
            <a:ext cx="449312" cy="490538"/>
          </a:xfrm>
          <a:prstGeom prst="rect">
            <a:avLst/>
          </a:prstGeom>
          <a:noFill/>
          <a:ln/>
        </p:spPr>
        <p:txBody>
          <a:bodyPr wrap="square" lIns="25400" tIns="25400" rIns="25400" bIns="25400" rtlCol="0" anchor="t">
            <a:normAutofit/>
          </a:bodyPr>
          <a:lstStyle/>
          <a:p>
            <a:pPr algn="l" indent="0" marL="0">
              <a:buNone/>
            </a:pPr>
            <a:r>
              <a:rPr lang="en-US" sz="2400" dirty="0">
                <a:solidFill>
                  <a:srgbClr val="9A9AA0"/>
                </a:solidFill>
                <a:latin typeface="Space Mono" pitchFamily="34" charset="0"/>
                <a:ea typeface="Space Mono" pitchFamily="34" charset="-122"/>
                <a:cs typeface="Space Mono" pitchFamily="34" charset="-120"/>
              </a:rPr>
              <a:t>03</a:t>
            </a:r>
            <a:endParaRPr lang="en-US" sz="2400" dirty="0"/>
          </a:p>
        </p:txBody>
      </p:sp>
      <p:sp>
        <p:nvSpPr>
          <p:cNvPr id="16" name="Text 14"/>
          <p:cNvSpPr/>
          <p:nvPr/>
        </p:nvSpPr>
        <p:spPr>
          <a:xfrm>
            <a:off x="1630412" y="6262688"/>
            <a:ext cx="5332556" cy="452438"/>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Space Grotesk" pitchFamily="34" charset="0"/>
                <a:ea typeface="Space Grotesk" pitchFamily="34" charset="-122"/>
                <a:cs typeface="Space Grotesk" pitchFamily="34" charset="-120"/>
              </a:rPr>
              <a:t>OPA refuse un pod interdit</a:t>
            </a:r>
            <a:endParaRPr lang="en-US" sz="2550" dirty="0"/>
          </a:p>
        </p:txBody>
      </p:sp>
      <p:sp>
        <p:nvSpPr>
          <p:cNvPr id="17" name="Text 15"/>
          <p:cNvSpPr/>
          <p:nvPr/>
        </p:nvSpPr>
        <p:spPr>
          <a:xfrm>
            <a:off x="1630412" y="6753225"/>
            <a:ext cx="5332556" cy="352425"/>
          </a:xfrm>
          <a:prstGeom prst="rect">
            <a:avLst/>
          </a:prstGeom>
          <a:noFill/>
          <a:ln/>
        </p:spPr>
        <p:txBody>
          <a:bodyPr wrap="square" lIns="25400" tIns="25400" rIns="25400" bIns="25400" rtlCol="0" anchor="t">
            <a:normAutofit/>
          </a:bodyPr>
          <a:lstStyle/>
          <a:p>
            <a:pPr algn="l" indent="0" marL="0">
              <a:buNone/>
            </a:pPr>
            <a:r>
              <a:rPr lang="en-US" sz="1950" dirty="0">
                <a:solidFill>
                  <a:srgbClr val="B0B0B6"/>
                </a:solidFill>
                <a:latin typeface="Space Grotesk" pitchFamily="34" charset="0"/>
                <a:ea typeface="Space Grotesk" pitchFamily="34" charset="-122"/>
                <a:cs typeface="Space Grotesk" pitchFamily="34" charset="-120"/>
              </a:rPr>
              <a:t>Gatekeeper bloque l'admission en direct.</a:t>
            </a:r>
            <a:endParaRPr lang="en-US" sz="1950" dirty="0"/>
          </a:p>
        </p:txBody>
      </p:sp>
      <p:sp>
        <p:nvSpPr>
          <p:cNvPr id="18" name="Shape 16"/>
          <p:cNvSpPr/>
          <p:nvPr/>
        </p:nvSpPr>
        <p:spPr>
          <a:xfrm>
            <a:off x="9410700" y="6024563"/>
            <a:ext cx="7848600" cy="9525"/>
          </a:xfrm>
          <a:prstGeom prst="rect">
            <a:avLst/>
          </a:prstGeom>
          <a:solidFill>
            <a:srgbClr val="2C2C30"/>
          </a:solidFill>
          <a:ln/>
        </p:spPr>
      </p:sp>
      <p:sp>
        <p:nvSpPr>
          <p:cNvPr id="19" name="Text 17"/>
          <p:cNvSpPr/>
          <p:nvPr/>
        </p:nvSpPr>
        <p:spPr>
          <a:xfrm>
            <a:off x="9410700" y="6262688"/>
            <a:ext cx="449312" cy="490538"/>
          </a:xfrm>
          <a:prstGeom prst="rect">
            <a:avLst/>
          </a:prstGeom>
          <a:noFill/>
          <a:ln/>
        </p:spPr>
        <p:txBody>
          <a:bodyPr wrap="square" lIns="25400" tIns="25400" rIns="25400" bIns="25400" rtlCol="0" anchor="t">
            <a:normAutofit/>
          </a:bodyPr>
          <a:lstStyle/>
          <a:p>
            <a:pPr algn="l" indent="0" marL="0">
              <a:buNone/>
            </a:pPr>
            <a:r>
              <a:rPr lang="en-US" sz="2400" dirty="0">
                <a:solidFill>
                  <a:srgbClr val="9A9AA0"/>
                </a:solidFill>
                <a:latin typeface="Space Mono" pitchFamily="34" charset="0"/>
                <a:ea typeface="Space Mono" pitchFamily="34" charset="-122"/>
                <a:cs typeface="Space Mono" pitchFamily="34" charset="-120"/>
              </a:rPr>
              <a:t>04</a:t>
            </a:r>
            <a:endParaRPr lang="en-US" sz="2400" dirty="0"/>
          </a:p>
        </p:txBody>
      </p:sp>
      <p:sp>
        <p:nvSpPr>
          <p:cNvPr id="20" name="Text 18"/>
          <p:cNvSpPr/>
          <p:nvPr/>
        </p:nvSpPr>
        <p:spPr>
          <a:xfrm>
            <a:off x="10012412" y="6262688"/>
            <a:ext cx="6036432" cy="452438"/>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Space Grotesk" pitchFamily="34" charset="0"/>
                <a:ea typeface="Space Grotesk" pitchFamily="34" charset="-122"/>
                <a:cs typeface="Space Grotesk" pitchFamily="34" charset="-120"/>
              </a:rPr>
              <a:t>Changement de domaine en GitOps</a:t>
            </a:r>
            <a:endParaRPr lang="en-US" sz="2550" dirty="0"/>
          </a:p>
        </p:txBody>
      </p:sp>
      <p:sp>
        <p:nvSpPr>
          <p:cNvPr id="21" name="Text 19"/>
          <p:cNvSpPr/>
          <p:nvPr/>
        </p:nvSpPr>
        <p:spPr>
          <a:xfrm>
            <a:off x="10012412" y="6753225"/>
            <a:ext cx="603643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B0B0B6"/>
                </a:solidFill>
                <a:latin typeface="Space Grotesk" pitchFamily="34" charset="0"/>
                <a:ea typeface="Space Grotesk" pitchFamily="34" charset="-122"/>
                <a:cs typeface="Space Grotesk" pitchFamily="34" charset="-120"/>
              </a:rPr>
              <a:t>Commit → ArgoCD applique.</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503486"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OPS</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11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Incidents diagnostiqués &amp; résolus</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Shape 4"/>
          <p:cNvSpPr/>
          <p:nvPr/>
        </p:nvSpPr>
        <p:spPr>
          <a:xfrm>
            <a:off x="1028700" y="4786313"/>
            <a:ext cx="16230600" cy="19050"/>
          </a:xfrm>
          <a:prstGeom prst="rect">
            <a:avLst/>
          </a:prstGeom>
          <a:solidFill>
            <a:srgbClr val="0B0B0C"/>
          </a:solidFill>
          <a:ln/>
        </p:spPr>
      </p:sp>
      <p:sp>
        <p:nvSpPr>
          <p:cNvPr id="7" name="Text 5"/>
          <p:cNvSpPr/>
          <p:nvPr/>
        </p:nvSpPr>
        <p:spPr>
          <a:xfrm>
            <a:off x="1028700" y="4381500"/>
            <a:ext cx="7634250" cy="290513"/>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73737A"/>
                </a:solidFill>
                <a:latin typeface="Space Mono" pitchFamily="34" charset="0"/>
                <a:ea typeface="Space Mono" pitchFamily="34" charset="-122"/>
                <a:cs typeface="Space Mono" pitchFamily="34" charset="-120"/>
              </a:rPr>
              <a:t>SYMPTÔME</a:t>
            </a:r>
            <a:endParaRPr lang="en-US" sz="1350" dirty="0"/>
          </a:p>
        </p:txBody>
      </p:sp>
      <p:sp>
        <p:nvSpPr>
          <p:cNvPr id="8" name="Text 6"/>
          <p:cNvSpPr/>
          <p:nvPr/>
        </p:nvSpPr>
        <p:spPr>
          <a:xfrm>
            <a:off x="8426128" y="4381500"/>
            <a:ext cx="9716490" cy="290513"/>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73737A"/>
                </a:solidFill>
                <a:latin typeface="Space Mono" pitchFamily="34" charset="0"/>
                <a:ea typeface="Space Mono" pitchFamily="34" charset="-122"/>
                <a:cs typeface="Space Mono" pitchFamily="34" charset="-120"/>
              </a:rPr>
              <a:t>RÉSOLUTION</a:t>
            </a:r>
            <a:endParaRPr lang="en-US" sz="1350" dirty="0"/>
          </a:p>
        </p:txBody>
      </p:sp>
      <p:sp>
        <p:nvSpPr>
          <p:cNvPr id="9" name="Text 7"/>
          <p:cNvSpPr/>
          <p:nvPr/>
        </p:nvSpPr>
        <p:spPr>
          <a:xfrm>
            <a:off x="1028700" y="5024438"/>
            <a:ext cx="7634250" cy="366713"/>
          </a:xfrm>
          <a:prstGeom prst="rect">
            <a:avLst/>
          </a:prstGeom>
          <a:noFill/>
          <a:ln/>
        </p:spPr>
        <p:txBody>
          <a:bodyPr wrap="square" lIns="25400" tIns="25400" rIns="25400" bIns="25400" rtlCol="0" anchor="t">
            <a:normAutofit/>
          </a:bodyPr>
          <a:lstStyle/>
          <a:p>
            <a:pPr algn="l" indent="0" marL="0">
              <a:buNone/>
            </a:pPr>
            <a:r>
              <a:rPr lang="en-US" sz="1725" b="1" dirty="0">
                <a:solidFill>
                  <a:srgbClr val="0B0B0C"/>
                </a:solidFill>
                <a:latin typeface="Space Mono" pitchFamily="34" charset="0"/>
                <a:ea typeface="Space Mono" pitchFamily="34" charset="-122"/>
                <a:cs typeface="Space Mono" pitchFamily="34" charset="-120"/>
              </a:rPr>
              <a:t>ArgoCD Sync Unknown</a:t>
            </a:r>
            <a:endParaRPr lang="en-US" sz="1725" dirty="0"/>
          </a:p>
        </p:txBody>
      </p:sp>
      <p:sp>
        <p:nvSpPr>
          <p:cNvPr id="10" name="Text 8"/>
          <p:cNvSpPr/>
          <p:nvPr/>
        </p:nvSpPr>
        <p:spPr>
          <a:xfrm>
            <a:off x="8426128" y="5014913"/>
            <a:ext cx="9716490" cy="376238"/>
          </a:xfrm>
          <a:prstGeom prst="rect">
            <a:avLst/>
          </a:prstGeom>
          <a:noFill/>
          <a:ln/>
        </p:spPr>
        <p:txBody>
          <a:bodyPr wrap="square" lIns="25400" tIns="25400" rIns="25400" bIns="25400" rtlCol="0" anchor="t">
            <a:normAutofit/>
          </a:bodyPr>
          <a:lstStyle/>
          <a:p>
            <a:pPr algn="l" indent="0" marL="0">
              <a:buNone/>
            </a:pPr>
            <a:r>
              <a:rPr lang="en-US" sz="1800" dirty="0">
                <a:solidFill>
                  <a:srgbClr val="73737A"/>
                </a:solidFill>
                <a:latin typeface="Space Grotesk" pitchFamily="34" charset="0"/>
                <a:ea typeface="Space Grotesk" pitchFamily="34" charset="-122"/>
                <a:cs typeface="Space Grotesk" pitchFamily="34" charset="-120"/>
              </a:rPr>
              <a:t>Flag </a:t>
            </a:r>
            <a:pPr algn="l" indent="0" marL="0">
              <a:buNone/>
            </a:pPr>
            <a:r>
              <a:rPr lang="en-US" sz="1800" dirty="0">
                <a:solidFill>
                  <a:srgbClr val="0B0B0C"/>
                </a:solidFill>
                <a:latin typeface="Space Mono" pitchFamily="34" charset="0"/>
                <a:ea typeface="Space Mono" pitchFamily="34" charset="-122"/>
                <a:cs typeface="Space Mono" pitchFamily="34" charset="-120"/>
              </a:rPr>
              <a:t>--enable-helm </a:t>
            </a:r>
            <a:pPr algn="l" indent="0" marL="0">
              <a:buNone/>
            </a:pPr>
            <a:r>
              <a:rPr lang="en-US" sz="1800" dirty="0">
                <a:solidFill>
                  <a:srgbClr val="73737A"/>
                </a:solidFill>
                <a:latin typeface="Space Grotesk" pitchFamily="34" charset="0"/>
                <a:ea typeface="Space Grotesk" pitchFamily="34" charset="-122"/>
                <a:cs typeface="Space Grotesk" pitchFamily="34" charset="-120"/>
              </a:rPr>
              <a:t>manquant</a:t>
            </a:r>
            <a:endParaRPr lang="en-US" sz="1800" dirty="0"/>
          </a:p>
        </p:txBody>
      </p:sp>
      <p:sp>
        <p:nvSpPr>
          <p:cNvPr id="11" name="Text 9"/>
          <p:cNvSpPr/>
          <p:nvPr/>
        </p:nvSpPr>
        <p:spPr>
          <a:xfrm>
            <a:off x="1028700" y="5562600"/>
            <a:ext cx="7634250" cy="366713"/>
          </a:xfrm>
          <a:prstGeom prst="rect">
            <a:avLst/>
          </a:prstGeom>
          <a:noFill/>
          <a:ln/>
        </p:spPr>
        <p:txBody>
          <a:bodyPr wrap="square" lIns="25400" tIns="25400" rIns="25400" bIns="25400" rtlCol="0" anchor="t">
            <a:normAutofit/>
          </a:bodyPr>
          <a:lstStyle/>
          <a:p>
            <a:pPr algn="l" indent="0" marL="0">
              <a:buNone/>
            </a:pPr>
            <a:r>
              <a:rPr lang="en-US" sz="1725" b="1" dirty="0">
                <a:solidFill>
                  <a:srgbClr val="0B0B0C"/>
                </a:solidFill>
                <a:latin typeface="Space Mono" pitchFamily="34" charset="0"/>
                <a:ea typeface="Space Mono" pitchFamily="34" charset="-122"/>
                <a:cs typeface="Space Mono" pitchFamily="34" charset="-120"/>
              </a:rPr>
              <a:t>Sous-chart MySQL absent</a:t>
            </a:r>
            <a:endParaRPr lang="en-US" sz="1725" dirty="0"/>
          </a:p>
        </p:txBody>
      </p:sp>
      <p:sp>
        <p:nvSpPr>
          <p:cNvPr id="12" name="Text 10"/>
          <p:cNvSpPr/>
          <p:nvPr/>
        </p:nvSpPr>
        <p:spPr>
          <a:xfrm>
            <a:off x="8426128" y="5586413"/>
            <a:ext cx="9716490" cy="328613"/>
          </a:xfrm>
          <a:prstGeom prst="rect">
            <a:avLst/>
          </a:prstGeom>
          <a:noFill/>
          <a:ln/>
        </p:spPr>
        <p:txBody>
          <a:bodyPr wrap="square" lIns="25400" tIns="25400" rIns="25400" bIns="25400" rtlCol="0" anchor="t">
            <a:normAutofit/>
          </a:bodyPr>
          <a:lstStyle/>
          <a:p>
            <a:pPr algn="l" indent="0" marL="0">
              <a:buNone/>
            </a:pPr>
            <a:r>
              <a:rPr lang="en-US" sz="1800" dirty="0">
                <a:solidFill>
                  <a:srgbClr val="73737A"/>
                </a:solidFill>
                <a:latin typeface="Space Grotesk" pitchFamily="34" charset="0"/>
                <a:ea typeface="Space Grotesk" pitchFamily="34" charset="-122"/>
                <a:cs typeface="Space Grotesk" pitchFamily="34" charset="-120"/>
              </a:rPr>
              <a:t>Versionné dans Git</a:t>
            </a:r>
            <a:endParaRPr lang="en-US" sz="1800" dirty="0"/>
          </a:p>
        </p:txBody>
      </p:sp>
      <p:sp>
        <p:nvSpPr>
          <p:cNvPr id="13" name="Text 11"/>
          <p:cNvSpPr/>
          <p:nvPr/>
        </p:nvSpPr>
        <p:spPr>
          <a:xfrm>
            <a:off x="1028700" y="6110288"/>
            <a:ext cx="7634250" cy="366713"/>
          </a:xfrm>
          <a:prstGeom prst="rect">
            <a:avLst/>
          </a:prstGeom>
          <a:noFill/>
          <a:ln/>
        </p:spPr>
        <p:txBody>
          <a:bodyPr wrap="square" lIns="25400" tIns="25400" rIns="25400" bIns="25400" rtlCol="0" anchor="t">
            <a:normAutofit/>
          </a:bodyPr>
          <a:lstStyle/>
          <a:p>
            <a:pPr algn="l" indent="0" marL="0">
              <a:buNone/>
            </a:pPr>
            <a:r>
              <a:rPr lang="en-US" sz="1725" b="1" dirty="0">
                <a:solidFill>
                  <a:srgbClr val="0B0B0C"/>
                </a:solidFill>
                <a:latin typeface="Space Mono" pitchFamily="34" charset="0"/>
                <a:ea typeface="Space Mono" pitchFamily="34" charset="-122"/>
                <a:cs typeface="Space Mono" pitchFamily="34" charset="-120"/>
              </a:rPr>
              <a:t>MySQL ImagePullBackOff</a:t>
            </a:r>
            <a:endParaRPr lang="en-US" sz="1725" dirty="0"/>
          </a:p>
        </p:txBody>
      </p:sp>
      <p:sp>
        <p:nvSpPr>
          <p:cNvPr id="14" name="Text 12"/>
          <p:cNvSpPr/>
          <p:nvPr/>
        </p:nvSpPr>
        <p:spPr>
          <a:xfrm>
            <a:off x="8426128" y="6100763"/>
            <a:ext cx="9716490" cy="376238"/>
          </a:xfrm>
          <a:prstGeom prst="rect">
            <a:avLst/>
          </a:prstGeom>
          <a:noFill/>
          <a:ln/>
        </p:spPr>
        <p:txBody>
          <a:bodyPr wrap="square" lIns="25400" tIns="25400" rIns="25400" bIns="25400" rtlCol="0" anchor="t">
            <a:normAutofit/>
          </a:bodyPr>
          <a:lstStyle/>
          <a:p>
            <a:pPr algn="l" indent="0" marL="0">
              <a:buNone/>
            </a:pPr>
            <a:r>
              <a:rPr lang="en-US" sz="1800" dirty="0">
                <a:solidFill>
                  <a:srgbClr val="73737A"/>
                </a:solidFill>
                <a:latin typeface="Space Grotesk" pitchFamily="34" charset="0"/>
                <a:ea typeface="Space Grotesk" pitchFamily="34" charset="-122"/>
                <a:cs typeface="Space Grotesk" pitchFamily="34" charset="-120"/>
              </a:rPr>
              <a:t>Bitnami a purgé Docker Hub (2025) → </a:t>
            </a:r>
            <a:pPr algn="l" indent="0" marL="0">
              <a:buNone/>
            </a:pPr>
            <a:r>
              <a:rPr lang="en-US" sz="1800" dirty="0">
                <a:solidFill>
                  <a:srgbClr val="0B0B0C"/>
                </a:solidFill>
                <a:latin typeface="Space Mono" pitchFamily="34" charset="0"/>
                <a:ea typeface="Space Mono" pitchFamily="34" charset="-122"/>
                <a:cs typeface="Space Mono" pitchFamily="34" charset="-120"/>
              </a:rPr>
              <a:t>bitnamilegacy</a:t>
            </a:r>
            <a:endParaRPr lang="en-US" sz="1800" dirty="0"/>
          </a:p>
        </p:txBody>
      </p:sp>
      <p:sp>
        <p:nvSpPr>
          <p:cNvPr id="15" name="Text 13"/>
          <p:cNvSpPr/>
          <p:nvPr/>
        </p:nvSpPr>
        <p:spPr>
          <a:xfrm>
            <a:off x="1028700" y="6648450"/>
            <a:ext cx="7634250" cy="366713"/>
          </a:xfrm>
          <a:prstGeom prst="rect">
            <a:avLst/>
          </a:prstGeom>
          <a:noFill/>
          <a:ln/>
        </p:spPr>
        <p:txBody>
          <a:bodyPr wrap="square" lIns="25400" tIns="25400" rIns="25400" bIns="25400" rtlCol="0" anchor="t">
            <a:normAutofit/>
          </a:bodyPr>
          <a:lstStyle/>
          <a:p>
            <a:pPr algn="l" indent="0" marL="0">
              <a:buNone/>
            </a:pPr>
            <a:r>
              <a:rPr lang="en-US" sz="1725" b="1" dirty="0">
                <a:solidFill>
                  <a:srgbClr val="0B0B0C"/>
                </a:solidFill>
                <a:latin typeface="Space Mono" pitchFamily="34" charset="0"/>
                <a:ea typeface="Space Mono" pitchFamily="34" charset="-122"/>
                <a:cs typeface="Space Mono" pitchFamily="34" charset="-120"/>
              </a:rPr>
              <a:t>Conflit d'Ingress</a:t>
            </a:r>
            <a:endParaRPr lang="en-US" sz="1725" dirty="0"/>
          </a:p>
        </p:txBody>
      </p:sp>
      <p:sp>
        <p:nvSpPr>
          <p:cNvPr id="16" name="Text 14"/>
          <p:cNvSpPr/>
          <p:nvPr/>
        </p:nvSpPr>
        <p:spPr>
          <a:xfrm>
            <a:off x="8426128" y="6672263"/>
            <a:ext cx="9716490" cy="328613"/>
          </a:xfrm>
          <a:prstGeom prst="rect">
            <a:avLst/>
          </a:prstGeom>
          <a:noFill/>
          <a:ln/>
        </p:spPr>
        <p:txBody>
          <a:bodyPr wrap="square" lIns="25400" tIns="25400" rIns="25400" bIns="25400" rtlCol="0" anchor="t">
            <a:normAutofit/>
          </a:bodyPr>
          <a:lstStyle/>
          <a:p>
            <a:pPr algn="l" indent="0" marL="0">
              <a:buNone/>
            </a:pPr>
            <a:r>
              <a:rPr lang="en-US" sz="1800" dirty="0">
                <a:solidFill>
                  <a:srgbClr val="73737A"/>
                </a:solidFill>
                <a:latin typeface="Space Grotesk" pitchFamily="34" charset="0"/>
                <a:ea typeface="Space Grotesk" pitchFamily="34" charset="-122"/>
                <a:cs typeface="Space Grotesk" pitchFamily="34" charset="-120"/>
              </a:rPr>
              <a:t>Ancien déploiement manuel vs GitOps → migration propre</a:t>
            </a:r>
            <a:endParaRPr lang="en-US" sz="1800" dirty="0"/>
          </a:p>
        </p:txBody>
      </p:sp>
      <p:sp>
        <p:nvSpPr>
          <p:cNvPr id="17" name="Text 15"/>
          <p:cNvSpPr/>
          <p:nvPr/>
        </p:nvSpPr>
        <p:spPr>
          <a:xfrm>
            <a:off x="1028700" y="7186613"/>
            <a:ext cx="7634250" cy="366713"/>
          </a:xfrm>
          <a:prstGeom prst="rect">
            <a:avLst/>
          </a:prstGeom>
          <a:noFill/>
          <a:ln/>
        </p:spPr>
        <p:txBody>
          <a:bodyPr wrap="square" lIns="25400" tIns="25400" rIns="25400" bIns="25400" rtlCol="0" anchor="t">
            <a:normAutofit/>
          </a:bodyPr>
          <a:lstStyle/>
          <a:p>
            <a:pPr algn="l" indent="0" marL="0">
              <a:buNone/>
            </a:pPr>
            <a:r>
              <a:rPr lang="en-US" sz="1725" b="1" dirty="0">
                <a:solidFill>
                  <a:srgbClr val="0B0B0C"/>
                </a:solidFill>
                <a:latin typeface="Space Mono" pitchFamily="34" charset="0"/>
                <a:ea typeface="Space Mono" pitchFamily="34" charset="-122"/>
                <a:cs typeface="Space Mono" pitchFamily="34" charset="-120"/>
              </a:rPr>
              <a:t>Migrations DB non gérées</a:t>
            </a:r>
            <a:endParaRPr lang="en-US" sz="1725" dirty="0"/>
          </a:p>
        </p:txBody>
      </p:sp>
      <p:sp>
        <p:nvSpPr>
          <p:cNvPr id="18" name="Text 16"/>
          <p:cNvSpPr/>
          <p:nvPr/>
        </p:nvSpPr>
        <p:spPr>
          <a:xfrm>
            <a:off x="8426128" y="7210425"/>
            <a:ext cx="9716490" cy="328613"/>
          </a:xfrm>
          <a:prstGeom prst="rect">
            <a:avLst/>
          </a:prstGeom>
          <a:noFill/>
          <a:ln/>
        </p:spPr>
        <p:txBody>
          <a:bodyPr wrap="square" lIns="25400" tIns="25400" rIns="25400" bIns="25400" rtlCol="0" anchor="t">
            <a:normAutofit/>
          </a:bodyPr>
          <a:lstStyle/>
          <a:p>
            <a:pPr algn="l" indent="0" marL="0">
              <a:buNone/>
            </a:pPr>
            <a:r>
              <a:rPr lang="en-US" sz="1800" dirty="0">
                <a:solidFill>
                  <a:srgbClr val="73737A"/>
                </a:solidFill>
                <a:latin typeface="Space Grotesk" pitchFamily="34" charset="0"/>
                <a:ea typeface="Space Grotesk" pitchFamily="34" charset="-122"/>
                <a:cs typeface="Space Grotesk" pitchFamily="34" charset="-120"/>
              </a:rPr>
              <a:t>À terme : un Helm hook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8700" y="762000"/>
            <a:ext cx="1409960"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HONNÊTETÉ</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73737A"/>
                </a:solidFill>
                <a:latin typeface="Space Mono" pitchFamily="34" charset="0"/>
                <a:ea typeface="Space Mono" pitchFamily="34" charset="-122"/>
                <a:cs typeface="Space Mono" pitchFamily="34" charset="-120"/>
              </a:rPr>
              <a:t>12 / 13</a:t>
            </a:r>
            <a:endParaRPr lang="en-US" sz="1575" dirty="0"/>
          </a:p>
        </p:txBody>
      </p:sp>
      <p:sp>
        <p:nvSpPr>
          <p:cNvPr id="4" name="Text 2"/>
          <p:cNvSpPr/>
          <p:nvPr/>
        </p:nvSpPr>
        <p:spPr>
          <a:xfrm>
            <a:off x="1028700" y="1209675"/>
            <a:ext cx="17853660" cy="7905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0B0B0C"/>
                </a:solidFill>
                <a:latin typeface="Space Grotesk" pitchFamily="34" charset="0"/>
                <a:ea typeface="Space Grotesk" pitchFamily="34" charset="-122"/>
                <a:cs typeface="Space Grotesk" pitchFamily="34" charset="-120"/>
              </a:rPr>
              <a:t>Limites &amp; haute disponibilité</a:t>
            </a:r>
            <a:endParaRPr lang="en-US" sz="4650" dirty="0"/>
          </a:p>
        </p:txBody>
      </p:sp>
      <p:sp>
        <p:nvSpPr>
          <p:cNvPr id="5" name="Shape 3"/>
          <p:cNvSpPr/>
          <p:nvPr/>
        </p:nvSpPr>
        <p:spPr>
          <a:xfrm>
            <a:off x="1028700" y="2228850"/>
            <a:ext cx="16230600" cy="9525"/>
          </a:xfrm>
          <a:prstGeom prst="rect">
            <a:avLst/>
          </a:prstGeom>
          <a:solidFill>
            <a:srgbClr val="DCDCDC"/>
          </a:solidFill>
          <a:ln/>
        </p:spPr>
      </p:sp>
      <p:sp>
        <p:nvSpPr>
          <p:cNvPr id="6" name="Text 4"/>
          <p:cNvSpPr/>
          <p:nvPr/>
        </p:nvSpPr>
        <p:spPr>
          <a:xfrm>
            <a:off x="1028700" y="2581275"/>
            <a:ext cx="8633460"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Aujourd'hui · SPOF assumés</a:t>
            </a:r>
            <a:endParaRPr lang="en-US" sz="1950" dirty="0"/>
          </a:p>
        </p:txBody>
      </p:sp>
      <p:sp>
        <p:nvSpPr>
          <p:cNvPr id="7" name="Text 5"/>
          <p:cNvSpPr/>
          <p:nvPr/>
        </p:nvSpPr>
        <p:spPr>
          <a:xfrm>
            <a:off x="1028700" y="3176588"/>
            <a:ext cx="233660" cy="414338"/>
          </a:xfrm>
          <a:prstGeom prst="rect">
            <a:avLst/>
          </a:prstGeom>
          <a:noFill/>
          <a:ln/>
        </p:spPr>
        <p:txBody>
          <a:bodyPr wrap="square" lIns="25400" tIns="25400" rIns="25400" bIns="25400" rtlCol="0" anchor="t">
            <a:normAutofit/>
          </a:bodyPr>
          <a:lstStyle/>
          <a:p>
            <a:pPr algn="l" indent="0" marL="0">
              <a:buNone/>
            </a:pPr>
            <a:r>
              <a:rPr lang="en-US" sz="2025" dirty="0">
                <a:solidFill>
                  <a:srgbClr val="73737A"/>
                </a:solidFill>
                <a:latin typeface="Space Mono" pitchFamily="34" charset="0"/>
                <a:ea typeface="Space Mono" pitchFamily="34" charset="-122"/>
                <a:cs typeface="Space Mono" pitchFamily="34" charset="-120"/>
              </a:rPr>
              <a:t>!</a:t>
            </a:r>
            <a:endParaRPr lang="en-US" sz="2025" dirty="0"/>
          </a:p>
        </p:txBody>
      </p:sp>
      <p:sp>
        <p:nvSpPr>
          <p:cNvPr id="8" name="Text 6"/>
          <p:cNvSpPr/>
          <p:nvPr/>
        </p:nvSpPr>
        <p:spPr>
          <a:xfrm>
            <a:off x="1319510" y="3209925"/>
            <a:ext cx="4056593" cy="366713"/>
          </a:xfrm>
          <a:prstGeom prst="rect">
            <a:avLst/>
          </a:prstGeom>
          <a:noFill/>
          <a:ln/>
        </p:spPr>
        <p:txBody>
          <a:bodyPr wrap="square" lIns="25400" tIns="25400" rIns="25400" bIns="25400" rtlCol="0" anchor="t">
            <a:normAutofit/>
          </a:bodyPr>
          <a:lstStyle/>
          <a:p>
            <a:pPr algn="l" indent="0" marL="0">
              <a:buNone/>
            </a:pPr>
            <a:r>
              <a:rPr lang="en-US" sz="2025" dirty="0">
                <a:solidFill>
                  <a:srgbClr val="0B0B0C"/>
                </a:solidFill>
                <a:latin typeface="Space Grotesk" pitchFamily="34" charset="0"/>
                <a:ea typeface="Space Grotesk" pitchFamily="34" charset="-122"/>
                <a:cs typeface="Space Grotesk" pitchFamily="34" charset="-120"/>
              </a:rPr>
              <a:t>Control-plane unique </a:t>
            </a:r>
            <a:pPr algn="l" indent="0" marL="0">
              <a:buNone/>
            </a:pPr>
            <a:r>
              <a:rPr lang="en-US" sz="2025" dirty="0">
                <a:solidFill>
                  <a:srgbClr val="73737A"/>
                </a:solidFill>
                <a:latin typeface="Space Grotesk" pitchFamily="34" charset="0"/>
                <a:ea typeface="Space Grotesk" pitchFamily="34" charset="-122"/>
                <a:cs typeface="Space Grotesk" pitchFamily="34" charset="-120"/>
              </a:rPr>
              <a:t>(SQLite)</a:t>
            </a:r>
            <a:endParaRPr lang="en-US" sz="2025" dirty="0"/>
          </a:p>
        </p:txBody>
      </p:sp>
      <p:sp>
        <p:nvSpPr>
          <p:cNvPr id="9" name="Text 7"/>
          <p:cNvSpPr/>
          <p:nvPr/>
        </p:nvSpPr>
        <p:spPr>
          <a:xfrm>
            <a:off x="1028700" y="3724275"/>
            <a:ext cx="233660" cy="414338"/>
          </a:xfrm>
          <a:prstGeom prst="rect">
            <a:avLst/>
          </a:prstGeom>
          <a:noFill/>
          <a:ln/>
        </p:spPr>
        <p:txBody>
          <a:bodyPr wrap="square" lIns="25400" tIns="25400" rIns="25400" bIns="25400" rtlCol="0" anchor="t">
            <a:normAutofit/>
          </a:bodyPr>
          <a:lstStyle/>
          <a:p>
            <a:pPr algn="l" indent="0" marL="0">
              <a:buNone/>
            </a:pPr>
            <a:r>
              <a:rPr lang="en-US" sz="2025" dirty="0">
                <a:solidFill>
                  <a:srgbClr val="73737A"/>
                </a:solidFill>
                <a:latin typeface="Space Mono" pitchFamily="34" charset="0"/>
                <a:ea typeface="Space Mono" pitchFamily="34" charset="-122"/>
                <a:cs typeface="Space Mono" pitchFamily="34" charset="-120"/>
              </a:rPr>
              <a:t>!</a:t>
            </a:r>
            <a:endParaRPr lang="en-US" sz="2025" dirty="0"/>
          </a:p>
        </p:txBody>
      </p:sp>
      <p:sp>
        <p:nvSpPr>
          <p:cNvPr id="10" name="Text 8"/>
          <p:cNvSpPr/>
          <p:nvPr/>
        </p:nvSpPr>
        <p:spPr>
          <a:xfrm>
            <a:off x="1319510" y="3757613"/>
            <a:ext cx="2780712" cy="366713"/>
          </a:xfrm>
          <a:prstGeom prst="rect">
            <a:avLst/>
          </a:prstGeom>
          <a:noFill/>
          <a:ln/>
        </p:spPr>
        <p:txBody>
          <a:bodyPr wrap="square" lIns="25400" tIns="25400" rIns="25400" bIns="25400" rtlCol="0" anchor="t">
            <a:normAutofit/>
          </a:bodyPr>
          <a:lstStyle/>
          <a:p>
            <a:pPr algn="l" indent="0" marL="0">
              <a:buNone/>
            </a:pPr>
            <a:r>
              <a:rPr lang="en-US" sz="2025" dirty="0">
                <a:solidFill>
                  <a:srgbClr val="0B0B0C"/>
                </a:solidFill>
                <a:latin typeface="Space Grotesk" pitchFamily="34" charset="0"/>
                <a:ea typeface="Space Grotesk" pitchFamily="34" charset="-122"/>
                <a:cs typeface="Space Grotesk" pitchFamily="34" charset="-120"/>
              </a:rPr>
              <a:t>Ingress en 1 réplique</a:t>
            </a:r>
            <a:endParaRPr lang="en-US" sz="2025" dirty="0"/>
          </a:p>
        </p:txBody>
      </p:sp>
      <p:sp>
        <p:nvSpPr>
          <p:cNvPr id="11" name="Text 9"/>
          <p:cNvSpPr/>
          <p:nvPr/>
        </p:nvSpPr>
        <p:spPr>
          <a:xfrm>
            <a:off x="1028700" y="4271963"/>
            <a:ext cx="233660" cy="414338"/>
          </a:xfrm>
          <a:prstGeom prst="rect">
            <a:avLst/>
          </a:prstGeom>
          <a:noFill/>
          <a:ln/>
        </p:spPr>
        <p:txBody>
          <a:bodyPr wrap="square" lIns="25400" tIns="25400" rIns="25400" bIns="25400" rtlCol="0" anchor="t">
            <a:normAutofit/>
          </a:bodyPr>
          <a:lstStyle/>
          <a:p>
            <a:pPr algn="l" indent="0" marL="0">
              <a:buNone/>
            </a:pPr>
            <a:r>
              <a:rPr lang="en-US" sz="2025" dirty="0">
                <a:solidFill>
                  <a:srgbClr val="73737A"/>
                </a:solidFill>
                <a:latin typeface="Space Mono" pitchFamily="34" charset="0"/>
                <a:ea typeface="Space Mono" pitchFamily="34" charset="-122"/>
                <a:cs typeface="Space Mono" pitchFamily="34" charset="-120"/>
              </a:rPr>
              <a:t>!</a:t>
            </a:r>
            <a:endParaRPr lang="en-US" sz="2025" dirty="0"/>
          </a:p>
        </p:txBody>
      </p:sp>
      <p:sp>
        <p:nvSpPr>
          <p:cNvPr id="12" name="Text 10"/>
          <p:cNvSpPr/>
          <p:nvPr/>
        </p:nvSpPr>
        <p:spPr>
          <a:xfrm>
            <a:off x="1319510" y="4305300"/>
            <a:ext cx="3237875" cy="366713"/>
          </a:xfrm>
          <a:prstGeom prst="rect">
            <a:avLst/>
          </a:prstGeom>
          <a:noFill/>
          <a:ln/>
        </p:spPr>
        <p:txBody>
          <a:bodyPr wrap="square" lIns="25400" tIns="25400" rIns="25400" bIns="25400" rtlCol="0" anchor="t">
            <a:normAutofit/>
          </a:bodyPr>
          <a:lstStyle/>
          <a:p>
            <a:pPr algn="l" indent="0" marL="0">
              <a:buNone/>
            </a:pPr>
            <a:r>
              <a:rPr lang="en-US" sz="2025" dirty="0">
                <a:solidFill>
                  <a:srgbClr val="0B0B0C"/>
                </a:solidFill>
                <a:latin typeface="Space Grotesk" pitchFamily="34" charset="0"/>
                <a:ea typeface="Space Grotesk" pitchFamily="34" charset="-122"/>
                <a:cs typeface="Space Grotesk" pitchFamily="34" charset="-120"/>
              </a:rPr>
              <a:t>MySQL + stockage local</a:t>
            </a:r>
            <a:endParaRPr lang="en-US" sz="2025" dirty="0"/>
          </a:p>
        </p:txBody>
      </p:sp>
      <p:sp>
        <p:nvSpPr>
          <p:cNvPr id="13" name="Shape 11"/>
          <p:cNvSpPr/>
          <p:nvPr/>
        </p:nvSpPr>
        <p:spPr>
          <a:xfrm>
            <a:off x="9410700" y="2581275"/>
            <a:ext cx="19050" cy="6943725"/>
          </a:xfrm>
          <a:prstGeom prst="rect">
            <a:avLst/>
          </a:prstGeom>
          <a:solidFill>
            <a:srgbClr val="0B0B0C"/>
          </a:solidFill>
          <a:ln/>
        </p:spPr>
      </p:sp>
      <p:sp>
        <p:nvSpPr>
          <p:cNvPr id="14" name="Text 12"/>
          <p:cNvSpPr/>
          <p:nvPr/>
        </p:nvSpPr>
        <p:spPr>
          <a:xfrm>
            <a:off x="9886950" y="2581275"/>
            <a:ext cx="8109585" cy="404813"/>
          </a:xfrm>
          <a:prstGeom prst="rect">
            <a:avLst/>
          </a:prstGeom>
          <a:noFill/>
          <a:ln/>
        </p:spPr>
        <p:txBody>
          <a:bodyPr wrap="square" lIns="25400" tIns="25400" rIns="25400" bIns="25400" rtlCol="0" anchor="t">
            <a:normAutofit/>
          </a:bodyPr>
          <a:lstStyle/>
          <a:p>
            <a:pPr algn="l" indent="0" marL="0">
              <a:buNone/>
            </a:pPr>
            <a:r>
              <a:rPr lang="en-US" sz="1950" dirty="0">
                <a:solidFill>
                  <a:srgbClr val="73737A"/>
                </a:solidFill>
                <a:latin typeface="Space Mono" pitchFamily="34" charset="0"/>
                <a:ea typeface="Space Mono" pitchFamily="34" charset="-122"/>
                <a:cs typeface="Space Mono" pitchFamily="34" charset="-120"/>
              </a:rPr>
              <a:t>Production HA · vraies solutions</a:t>
            </a:r>
            <a:endParaRPr lang="en-US" sz="1950" dirty="0"/>
          </a:p>
        </p:txBody>
      </p:sp>
      <p:sp>
        <p:nvSpPr>
          <p:cNvPr id="15" name="Text 13"/>
          <p:cNvSpPr/>
          <p:nvPr/>
        </p:nvSpPr>
        <p:spPr>
          <a:xfrm>
            <a:off x="9886950" y="3176588"/>
            <a:ext cx="231056" cy="414338"/>
          </a:xfrm>
          <a:prstGeom prst="rect">
            <a:avLst/>
          </a:prstGeom>
          <a:noFill/>
          <a:ln/>
        </p:spPr>
        <p:txBody>
          <a:bodyPr wrap="square" lIns="25400" tIns="25400" rIns="25400" bIns="25400" rtlCol="0" anchor="t">
            <a:normAutofit/>
          </a:bodyPr>
          <a:lstStyle/>
          <a:p>
            <a:pPr algn="l" indent="0" marL="0">
              <a:buNone/>
            </a:pPr>
            <a:r>
              <a:rPr lang="en-US" sz="2025" dirty="0">
                <a:solidFill>
                  <a:srgbClr val="73737A"/>
                </a:solidFill>
                <a:latin typeface="Space Mono" pitchFamily="34" charset="0"/>
                <a:ea typeface="Space Mono" pitchFamily="34" charset="-122"/>
                <a:cs typeface="Space Mono" pitchFamily="34" charset="-120"/>
              </a:rPr>
              <a:t>→</a:t>
            </a:r>
            <a:endParaRPr lang="en-US" sz="2025" dirty="0"/>
          </a:p>
        </p:txBody>
      </p:sp>
      <p:sp>
        <p:nvSpPr>
          <p:cNvPr id="16" name="Text 14"/>
          <p:cNvSpPr/>
          <p:nvPr/>
        </p:nvSpPr>
        <p:spPr>
          <a:xfrm>
            <a:off x="10175156" y="3209925"/>
            <a:ext cx="4419213" cy="366713"/>
          </a:xfrm>
          <a:prstGeom prst="rect">
            <a:avLst/>
          </a:prstGeom>
          <a:noFill/>
          <a:ln/>
        </p:spPr>
        <p:txBody>
          <a:bodyPr wrap="square" lIns="25400" tIns="25400" rIns="25400" bIns="25400" rtlCol="0" anchor="t">
            <a:normAutofit/>
          </a:bodyPr>
          <a:lstStyle/>
          <a:p>
            <a:pPr algn="l" indent="0" marL="0">
              <a:buNone/>
            </a:pPr>
            <a:r>
              <a:rPr lang="en-US" sz="2025" dirty="0">
                <a:solidFill>
                  <a:srgbClr val="0B0B0C"/>
                </a:solidFill>
                <a:latin typeface="Space Grotesk" pitchFamily="34" charset="0"/>
                <a:ea typeface="Space Grotesk" pitchFamily="34" charset="-122"/>
                <a:cs typeface="Space Grotesk" pitchFamily="34" charset="-120"/>
              </a:rPr>
              <a:t>3 control-planes en cluster etcd</a:t>
            </a:r>
            <a:endParaRPr lang="en-US" sz="2025" dirty="0"/>
          </a:p>
        </p:txBody>
      </p:sp>
      <p:sp>
        <p:nvSpPr>
          <p:cNvPr id="17" name="Text 15"/>
          <p:cNvSpPr/>
          <p:nvPr/>
        </p:nvSpPr>
        <p:spPr>
          <a:xfrm>
            <a:off x="9886950" y="3724275"/>
            <a:ext cx="231056" cy="414338"/>
          </a:xfrm>
          <a:prstGeom prst="rect">
            <a:avLst/>
          </a:prstGeom>
          <a:noFill/>
          <a:ln/>
        </p:spPr>
        <p:txBody>
          <a:bodyPr wrap="square" lIns="25400" tIns="25400" rIns="25400" bIns="25400" rtlCol="0" anchor="t">
            <a:normAutofit/>
          </a:bodyPr>
          <a:lstStyle/>
          <a:p>
            <a:pPr algn="l" indent="0" marL="0">
              <a:buNone/>
            </a:pPr>
            <a:r>
              <a:rPr lang="en-US" sz="2025" dirty="0">
                <a:solidFill>
                  <a:srgbClr val="73737A"/>
                </a:solidFill>
                <a:latin typeface="Space Mono" pitchFamily="34" charset="0"/>
                <a:ea typeface="Space Mono" pitchFamily="34" charset="-122"/>
                <a:cs typeface="Space Mono" pitchFamily="34" charset="-120"/>
              </a:rPr>
              <a:t>→</a:t>
            </a:r>
            <a:endParaRPr lang="en-US" sz="2025" dirty="0"/>
          </a:p>
        </p:txBody>
      </p:sp>
      <p:sp>
        <p:nvSpPr>
          <p:cNvPr id="18" name="Text 16"/>
          <p:cNvSpPr/>
          <p:nvPr/>
        </p:nvSpPr>
        <p:spPr>
          <a:xfrm>
            <a:off x="10175156" y="3757613"/>
            <a:ext cx="2655719" cy="366713"/>
          </a:xfrm>
          <a:prstGeom prst="rect">
            <a:avLst/>
          </a:prstGeom>
          <a:noFill/>
          <a:ln/>
        </p:spPr>
        <p:txBody>
          <a:bodyPr wrap="square" lIns="25400" tIns="25400" rIns="25400" bIns="25400" rtlCol="0" anchor="t">
            <a:normAutofit/>
          </a:bodyPr>
          <a:lstStyle/>
          <a:p>
            <a:pPr algn="l" indent="0" marL="0">
              <a:buNone/>
            </a:pPr>
            <a:r>
              <a:rPr lang="en-US" sz="2025" dirty="0">
                <a:solidFill>
                  <a:srgbClr val="0B0B0C"/>
                </a:solidFill>
                <a:latin typeface="Space Grotesk" pitchFamily="34" charset="0"/>
                <a:ea typeface="Space Grotesk" pitchFamily="34" charset="-122"/>
                <a:cs typeface="Space Grotesk" pitchFamily="34" charset="-120"/>
              </a:rPr>
              <a:t>Répliques d'ingress</a:t>
            </a:r>
            <a:endParaRPr lang="en-US" sz="2025" dirty="0"/>
          </a:p>
        </p:txBody>
      </p:sp>
      <p:sp>
        <p:nvSpPr>
          <p:cNvPr id="19" name="Text 17"/>
          <p:cNvSpPr/>
          <p:nvPr/>
        </p:nvSpPr>
        <p:spPr>
          <a:xfrm>
            <a:off x="9886950" y="4271963"/>
            <a:ext cx="231056" cy="414338"/>
          </a:xfrm>
          <a:prstGeom prst="rect">
            <a:avLst/>
          </a:prstGeom>
          <a:noFill/>
          <a:ln/>
        </p:spPr>
        <p:txBody>
          <a:bodyPr wrap="square" lIns="25400" tIns="25400" rIns="25400" bIns="25400" rtlCol="0" anchor="t">
            <a:normAutofit/>
          </a:bodyPr>
          <a:lstStyle/>
          <a:p>
            <a:pPr algn="l" indent="0" marL="0">
              <a:buNone/>
            </a:pPr>
            <a:r>
              <a:rPr lang="en-US" sz="2025" dirty="0">
                <a:solidFill>
                  <a:srgbClr val="73737A"/>
                </a:solidFill>
                <a:latin typeface="Space Mono" pitchFamily="34" charset="0"/>
                <a:ea typeface="Space Mono" pitchFamily="34" charset="-122"/>
                <a:cs typeface="Space Mono" pitchFamily="34" charset="-120"/>
              </a:rPr>
              <a:t>→</a:t>
            </a:r>
            <a:endParaRPr lang="en-US" sz="2025" dirty="0"/>
          </a:p>
        </p:txBody>
      </p:sp>
      <p:sp>
        <p:nvSpPr>
          <p:cNvPr id="20" name="Text 18"/>
          <p:cNvSpPr/>
          <p:nvPr/>
        </p:nvSpPr>
        <p:spPr>
          <a:xfrm>
            <a:off x="10175156" y="4305300"/>
            <a:ext cx="2484395" cy="366713"/>
          </a:xfrm>
          <a:prstGeom prst="rect">
            <a:avLst/>
          </a:prstGeom>
          <a:noFill/>
          <a:ln/>
        </p:spPr>
        <p:txBody>
          <a:bodyPr wrap="square" lIns="25400" tIns="25400" rIns="25400" bIns="25400" rtlCol="0" anchor="t">
            <a:normAutofit/>
          </a:bodyPr>
          <a:lstStyle/>
          <a:p>
            <a:pPr algn="l" indent="0" marL="0">
              <a:buNone/>
            </a:pPr>
            <a:r>
              <a:rPr lang="en-US" sz="2025" dirty="0">
                <a:solidFill>
                  <a:srgbClr val="0B0B0C"/>
                </a:solidFill>
                <a:latin typeface="Space Grotesk" pitchFamily="34" charset="0"/>
                <a:ea typeface="Space Grotesk" pitchFamily="34" charset="-122"/>
                <a:cs typeface="Space Grotesk" pitchFamily="34" charset="-120"/>
              </a:rPr>
              <a:t>Stockage répliqué</a:t>
            </a:r>
            <a:endParaRPr lang="en-US" sz="2025" dirty="0"/>
          </a:p>
        </p:txBody>
      </p:sp>
      <p:sp>
        <p:nvSpPr>
          <p:cNvPr id="21" name="Text 19"/>
          <p:cNvSpPr/>
          <p:nvPr/>
        </p:nvSpPr>
        <p:spPr>
          <a:xfrm>
            <a:off x="9886950" y="4819650"/>
            <a:ext cx="231056" cy="414338"/>
          </a:xfrm>
          <a:prstGeom prst="rect">
            <a:avLst/>
          </a:prstGeom>
          <a:noFill/>
          <a:ln/>
        </p:spPr>
        <p:txBody>
          <a:bodyPr wrap="square" lIns="25400" tIns="25400" rIns="25400" bIns="25400" rtlCol="0" anchor="t">
            <a:normAutofit/>
          </a:bodyPr>
          <a:lstStyle/>
          <a:p>
            <a:pPr algn="l" indent="0" marL="0">
              <a:buNone/>
            </a:pPr>
            <a:r>
              <a:rPr lang="en-US" sz="2025" dirty="0">
                <a:solidFill>
                  <a:srgbClr val="73737A"/>
                </a:solidFill>
                <a:latin typeface="Space Mono" pitchFamily="34" charset="0"/>
                <a:ea typeface="Space Mono" pitchFamily="34" charset="-122"/>
                <a:cs typeface="Space Mono" pitchFamily="34" charset="-120"/>
              </a:rPr>
              <a:t>→</a:t>
            </a:r>
            <a:endParaRPr lang="en-US" sz="2025" dirty="0"/>
          </a:p>
        </p:txBody>
      </p:sp>
      <p:sp>
        <p:nvSpPr>
          <p:cNvPr id="22" name="Text 20"/>
          <p:cNvSpPr/>
          <p:nvPr/>
        </p:nvSpPr>
        <p:spPr>
          <a:xfrm>
            <a:off x="10175156" y="4852988"/>
            <a:ext cx="2967834" cy="366713"/>
          </a:xfrm>
          <a:prstGeom prst="rect">
            <a:avLst/>
          </a:prstGeom>
          <a:noFill/>
          <a:ln/>
        </p:spPr>
        <p:txBody>
          <a:bodyPr wrap="square" lIns="25400" tIns="25400" rIns="25400" bIns="25400" rtlCol="0" anchor="t">
            <a:normAutofit/>
          </a:bodyPr>
          <a:lstStyle/>
          <a:p>
            <a:pPr algn="l" indent="0" marL="0">
              <a:buNone/>
            </a:pPr>
            <a:r>
              <a:rPr lang="en-US" sz="2025" dirty="0">
                <a:solidFill>
                  <a:srgbClr val="0B0B0C"/>
                </a:solidFill>
                <a:latin typeface="Space Grotesk" pitchFamily="34" charset="0"/>
                <a:ea typeface="Space Grotesk" pitchFamily="34" charset="-122"/>
                <a:cs typeface="Space Grotesk" pitchFamily="34" charset="-120"/>
              </a:rPr>
              <a:t>Elastic IP / LB managé</a:t>
            </a:r>
            <a:endParaRPr lang="en-US" sz="20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1028700" y="762000"/>
            <a:ext cx="1566632"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9A9AA0"/>
                </a:solidFill>
                <a:latin typeface="Space Mono" pitchFamily="34" charset="0"/>
                <a:ea typeface="Space Mono" pitchFamily="34" charset="-122"/>
                <a:cs typeface="Space Mono" pitchFamily="34" charset="-120"/>
              </a:rPr>
              <a:t>CONCLUSION</a:t>
            </a:r>
            <a:endParaRPr lang="en-US" sz="1575" dirty="0"/>
          </a:p>
        </p:txBody>
      </p:sp>
      <p:sp>
        <p:nvSpPr>
          <p:cNvPr id="3" name="Text 1"/>
          <p:cNvSpPr/>
          <p:nvPr/>
        </p:nvSpPr>
        <p:spPr>
          <a:xfrm>
            <a:off x="16262375" y="762000"/>
            <a:ext cx="1073125" cy="333375"/>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9A9AA0"/>
                </a:solidFill>
                <a:latin typeface="Space Mono" pitchFamily="34" charset="0"/>
                <a:ea typeface="Space Mono" pitchFamily="34" charset="-122"/>
                <a:cs typeface="Space Mono" pitchFamily="34" charset="-120"/>
              </a:rPr>
              <a:t>13 / 14</a:t>
            </a:r>
            <a:endParaRPr lang="en-US" sz="1575" dirty="0"/>
          </a:p>
        </p:txBody>
      </p:sp>
      <p:sp>
        <p:nvSpPr>
          <p:cNvPr id="4" name="Text 2"/>
          <p:cNvSpPr/>
          <p:nvPr/>
        </p:nvSpPr>
        <p:spPr>
          <a:xfrm>
            <a:off x="1028700" y="3560936"/>
            <a:ext cx="16717518" cy="1524000"/>
          </a:xfrm>
          <a:prstGeom prst="rect">
            <a:avLst/>
          </a:prstGeom>
          <a:noFill/>
          <a:ln/>
        </p:spPr>
        <p:txBody>
          <a:bodyPr wrap="square" lIns="25400" tIns="25400" rIns="25400" bIns="25400" rtlCol="0" anchor="t">
            <a:normAutofit/>
          </a:bodyPr>
          <a:lstStyle/>
          <a:p>
            <a:pPr algn="l" indent="0" marL="0">
              <a:lnSpc>
                <a:spcPct val="100000"/>
              </a:lnSpc>
              <a:buNone/>
            </a:pPr>
            <a:r>
              <a:rPr lang="en-US" sz="5850" b="1" spc="-175" kern="0" dirty="0">
                <a:solidFill>
                  <a:srgbClr val="FFFFFF"/>
                </a:solidFill>
                <a:latin typeface="Space Grotesk" pitchFamily="34" charset="0"/>
                <a:ea typeface="Space Grotesk" pitchFamily="34" charset="-122"/>
                <a:cs typeface="Space Grotesk" pitchFamily="34" charset="-120"/>
              </a:rPr>
              <a:t>Ce que le projet démontre</a:t>
            </a:r>
            <a:endParaRPr lang="en-US" sz="5850" dirty="0"/>
          </a:p>
        </p:txBody>
      </p:sp>
      <p:sp>
        <p:nvSpPr>
          <p:cNvPr id="5" name="Shape 3"/>
          <p:cNvSpPr/>
          <p:nvPr/>
        </p:nvSpPr>
        <p:spPr>
          <a:xfrm>
            <a:off x="1028700" y="5427836"/>
            <a:ext cx="1395189" cy="623888"/>
          </a:xfrm>
          <a:prstGeom prst="rect">
            <a:avLst/>
          </a:prstGeom>
          <a:ln w="14288">
            <a:solidFill>
              <a:srgbClr val="FFFFFF"/>
            </a:solidFill>
            <a:prstDash val="solid"/>
          </a:ln>
        </p:spPr>
      </p:sp>
      <p:sp>
        <p:nvSpPr>
          <p:cNvPr id="6" name="Text 4"/>
          <p:cNvSpPr/>
          <p:nvPr/>
        </p:nvSpPr>
        <p:spPr>
          <a:xfrm>
            <a:off x="1271588" y="5556424"/>
            <a:ext cx="985614" cy="4048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Space Mono" pitchFamily="34" charset="0"/>
                <a:ea typeface="Space Mono" pitchFamily="34" charset="-122"/>
                <a:cs typeface="Space Mono" pitchFamily="34" charset="-120"/>
              </a:rPr>
              <a:t>GitOps</a:t>
            </a:r>
            <a:endParaRPr lang="en-US" sz="1950" dirty="0"/>
          </a:p>
        </p:txBody>
      </p:sp>
      <p:sp>
        <p:nvSpPr>
          <p:cNvPr id="7" name="Shape 5"/>
          <p:cNvSpPr/>
          <p:nvPr/>
        </p:nvSpPr>
        <p:spPr>
          <a:xfrm>
            <a:off x="2595339" y="5427836"/>
            <a:ext cx="1243608" cy="623888"/>
          </a:xfrm>
          <a:prstGeom prst="rect">
            <a:avLst/>
          </a:prstGeom>
          <a:ln w="14288">
            <a:solidFill>
              <a:srgbClr val="FFFFFF"/>
            </a:solidFill>
            <a:prstDash val="solid"/>
          </a:ln>
        </p:spPr>
      </p:sp>
      <p:sp>
        <p:nvSpPr>
          <p:cNvPr id="8" name="Text 6"/>
          <p:cNvSpPr/>
          <p:nvPr/>
        </p:nvSpPr>
        <p:spPr>
          <a:xfrm>
            <a:off x="2838227" y="5556424"/>
            <a:ext cx="834033" cy="4048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Space Mono" pitchFamily="34" charset="0"/>
                <a:ea typeface="Space Mono" pitchFamily="34" charset="-122"/>
                <a:cs typeface="Space Mono" pitchFamily="34" charset="-120"/>
              </a:rPr>
              <a:t>CI/CD</a:t>
            </a:r>
            <a:endParaRPr lang="en-US" sz="1950" dirty="0"/>
          </a:p>
        </p:txBody>
      </p:sp>
      <p:sp>
        <p:nvSpPr>
          <p:cNvPr id="9" name="Shape 7"/>
          <p:cNvSpPr/>
          <p:nvPr/>
        </p:nvSpPr>
        <p:spPr>
          <a:xfrm>
            <a:off x="4010397" y="5427836"/>
            <a:ext cx="1698278" cy="623888"/>
          </a:xfrm>
          <a:prstGeom prst="rect">
            <a:avLst/>
          </a:prstGeom>
          <a:ln w="14288">
            <a:solidFill>
              <a:srgbClr val="FFFFFF"/>
            </a:solidFill>
            <a:prstDash val="solid"/>
          </a:ln>
        </p:spPr>
      </p:sp>
      <p:sp>
        <p:nvSpPr>
          <p:cNvPr id="10" name="Text 8"/>
          <p:cNvSpPr/>
          <p:nvPr/>
        </p:nvSpPr>
        <p:spPr>
          <a:xfrm>
            <a:off x="4253285" y="5556424"/>
            <a:ext cx="1288703" cy="4048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Space Mono" pitchFamily="34" charset="0"/>
                <a:ea typeface="Space Mono" pitchFamily="34" charset="-122"/>
                <a:cs typeface="Space Mono" pitchFamily="34" charset="-120"/>
              </a:rPr>
              <a:t>Sécurité</a:t>
            </a:r>
            <a:endParaRPr lang="en-US" sz="1950" dirty="0"/>
          </a:p>
        </p:txBody>
      </p:sp>
      <p:sp>
        <p:nvSpPr>
          <p:cNvPr id="11" name="Shape 9"/>
          <p:cNvSpPr/>
          <p:nvPr/>
        </p:nvSpPr>
        <p:spPr>
          <a:xfrm>
            <a:off x="5880125" y="5427836"/>
            <a:ext cx="2456111" cy="623888"/>
          </a:xfrm>
          <a:prstGeom prst="rect">
            <a:avLst/>
          </a:prstGeom>
          <a:ln w="14288">
            <a:solidFill>
              <a:srgbClr val="FFFFFF"/>
            </a:solidFill>
            <a:prstDash val="solid"/>
          </a:ln>
        </p:spPr>
      </p:sp>
      <p:sp>
        <p:nvSpPr>
          <p:cNvPr id="12" name="Text 10"/>
          <p:cNvSpPr/>
          <p:nvPr/>
        </p:nvSpPr>
        <p:spPr>
          <a:xfrm>
            <a:off x="6123012" y="5556424"/>
            <a:ext cx="204653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Space Mono" pitchFamily="34" charset="0"/>
                <a:ea typeface="Space Mono" pitchFamily="34" charset="-122"/>
                <a:cs typeface="Space Mono" pitchFamily="34" charset="-120"/>
              </a:rPr>
              <a:t>Observabilité</a:t>
            </a:r>
            <a:endParaRPr lang="en-US" sz="1950" dirty="0"/>
          </a:p>
        </p:txBody>
      </p:sp>
      <p:sp>
        <p:nvSpPr>
          <p:cNvPr id="13" name="Shape 11"/>
          <p:cNvSpPr/>
          <p:nvPr/>
        </p:nvSpPr>
        <p:spPr>
          <a:xfrm>
            <a:off x="1028700" y="8555385"/>
            <a:ext cx="16230600" cy="9525"/>
          </a:xfrm>
          <a:prstGeom prst="rect">
            <a:avLst/>
          </a:prstGeom>
          <a:solidFill>
            <a:srgbClr val="2C2C30"/>
          </a:solidFill>
          <a:ln/>
        </p:spPr>
      </p:sp>
      <p:sp>
        <p:nvSpPr>
          <p:cNvPr id="14" name="Text 12"/>
          <p:cNvSpPr/>
          <p:nvPr/>
        </p:nvSpPr>
        <p:spPr>
          <a:xfrm>
            <a:off x="1028700" y="8831610"/>
            <a:ext cx="7456170"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B0B0B6"/>
                </a:solidFill>
                <a:latin typeface="Space Grotesk" pitchFamily="34" charset="0"/>
                <a:ea typeface="Space Grotesk" pitchFamily="34" charset="-122"/>
                <a:cs typeface="Space Grotesk" pitchFamily="34" charset="-120"/>
              </a:rPr>
              <a:t>Apprentissages : l'infrastructure comme code versionné · ne jamais toucher le cluster à la main · diagnostiquer à la racine.</a:t>
            </a:r>
            <a:endParaRPr lang="en-US" sz="1950" dirty="0"/>
          </a:p>
        </p:txBody>
      </p:sp>
      <p:sp>
        <p:nvSpPr>
          <p:cNvPr id="15" name="Text 13"/>
          <p:cNvSpPr/>
          <p:nvPr/>
        </p:nvSpPr>
        <p:spPr>
          <a:xfrm>
            <a:off x="14682713" y="9158288"/>
            <a:ext cx="283424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9A9AA0"/>
                </a:solidFill>
                <a:latin typeface="Space Mono" pitchFamily="34" charset="0"/>
                <a:ea typeface="Space Mono" pitchFamily="34" charset="-122"/>
                <a:cs typeface="Space Mono" pitchFamily="34" charset="-120"/>
              </a:rPr>
              <a:t>KUBEQUEST · COT_1</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1028700" y="762000"/>
            <a:ext cx="3309253" cy="333375"/>
          </a:xfrm>
          <a:prstGeom prst="rect">
            <a:avLst/>
          </a:prstGeom>
          <a:noFill/>
          <a:ln/>
        </p:spPr>
        <p:txBody>
          <a:bodyPr wrap="square" lIns="25400" tIns="25400" rIns="25400" bIns="25400" rtlCol="0" anchor="t">
            <a:normAutofit/>
          </a:bodyPr>
          <a:lstStyle/>
          <a:p>
            <a:pPr algn="l" indent="0" marL="0">
              <a:buNone/>
            </a:pPr>
            <a:r>
              <a:rPr lang="en-US" sz="1575" spc="221" kern="0" dirty="0">
                <a:solidFill>
                  <a:srgbClr val="9A9AA0"/>
                </a:solidFill>
                <a:latin typeface="Space Mono" pitchFamily="34" charset="0"/>
                <a:ea typeface="Space Mono" pitchFamily="34" charset="-122"/>
                <a:cs typeface="Space Mono" pitchFamily="34" charset="-120"/>
              </a:rPr>
              <a:t>EPITECH · SOUTENANCE</a:t>
            </a:r>
            <a:endParaRPr lang="en-US" sz="1575" dirty="0"/>
          </a:p>
        </p:txBody>
      </p:sp>
      <p:sp>
        <p:nvSpPr>
          <p:cNvPr id="3" name="Text 1"/>
          <p:cNvSpPr/>
          <p:nvPr/>
        </p:nvSpPr>
        <p:spPr>
          <a:xfrm>
            <a:off x="16206341" y="762000"/>
            <a:ext cx="1129159" cy="333375"/>
          </a:xfrm>
          <a:prstGeom prst="rect">
            <a:avLst/>
          </a:prstGeom>
          <a:noFill/>
          <a:ln/>
        </p:spPr>
        <p:txBody>
          <a:bodyPr wrap="square" lIns="25400" tIns="25400" rIns="25400" bIns="25400" rtlCol="0" anchor="t">
            <a:normAutofit/>
          </a:bodyPr>
          <a:lstStyle/>
          <a:p>
            <a:pPr algn="l" indent="0" marL="0">
              <a:buNone/>
            </a:pPr>
            <a:r>
              <a:rPr lang="en-US" sz="1575" spc="221" kern="0" dirty="0">
                <a:solidFill>
                  <a:srgbClr val="9A9AA0"/>
                </a:solidFill>
                <a:latin typeface="Space Mono" pitchFamily="34" charset="0"/>
                <a:ea typeface="Space Mono" pitchFamily="34" charset="-122"/>
                <a:cs typeface="Space Mono" pitchFamily="34" charset="-120"/>
              </a:rPr>
              <a:t>14 / 14</a:t>
            </a:r>
            <a:endParaRPr lang="en-US" sz="1575" dirty="0"/>
          </a:p>
        </p:txBody>
      </p:sp>
      <p:sp>
        <p:nvSpPr>
          <p:cNvPr id="4" name="Text 2"/>
          <p:cNvSpPr/>
          <p:nvPr/>
        </p:nvSpPr>
        <p:spPr>
          <a:xfrm>
            <a:off x="1028700" y="3583781"/>
            <a:ext cx="17853660" cy="376238"/>
          </a:xfrm>
          <a:prstGeom prst="rect">
            <a:avLst/>
          </a:prstGeom>
          <a:noFill/>
          <a:ln/>
        </p:spPr>
        <p:txBody>
          <a:bodyPr wrap="square" lIns="25400" tIns="25400" rIns="25400" bIns="25400" rtlCol="0" anchor="t">
            <a:normAutofit/>
          </a:bodyPr>
          <a:lstStyle/>
          <a:p>
            <a:pPr algn="l" indent="0" marL="0">
              <a:buNone/>
            </a:pPr>
            <a:r>
              <a:rPr lang="en-US" sz="1800" spc="540" kern="0" dirty="0">
                <a:solidFill>
                  <a:srgbClr val="9A9AA0"/>
                </a:solidFill>
                <a:latin typeface="Space Mono" pitchFamily="34" charset="0"/>
                <a:ea typeface="Space Mono" pitchFamily="34" charset="-122"/>
                <a:cs typeface="Space Mono" pitchFamily="34" charset="-120"/>
              </a:rPr>
              <a:t>$ kubectl get questions</a:t>
            </a:r>
            <a:endParaRPr lang="en-US" sz="1800" dirty="0"/>
          </a:p>
        </p:txBody>
      </p:sp>
      <p:sp>
        <p:nvSpPr>
          <p:cNvPr id="5" name="Text 3"/>
          <p:cNvSpPr/>
          <p:nvPr/>
        </p:nvSpPr>
        <p:spPr>
          <a:xfrm>
            <a:off x="1028700" y="4150519"/>
            <a:ext cx="17853660"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b="1" spc="-600" kern="0" dirty="0">
                <a:solidFill>
                  <a:srgbClr val="FFFFFF"/>
                </a:solidFill>
                <a:latin typeface="Space Grotesk" pitchFamily="34" charset="0"/>
                <a:ea typeface="Space Grotesk" pitchFamily="34" charset="-122"/>
                <a:cs typeface="Space Grotesk" pitchFamily="34" charset="-120"/>
              </a:rPr>
              <a:t>MERCI</a:t>
            </a:r>
            <a:endParaRPr lang="en-US" sz="15000" dirty="0"/>
          </a:p>
        </p:txBody>
      </p:sp>
      <p:sp>
        <p:nvSpPr>
          <p:cNvPr id="6" name="Text 4"/>
          <p:cNvSpPr/>
          <p:nvPr/>
        </p:nvSpPr>
        <p:spPr>
          <a:xfrm>
            <a:off x="1028700" y="6150769"/>
            <a:ext cx="17853660" cy="519112"/>
          </a:xfrm>
          <a:prstGeom prst="rect">
            <a:avLst/>
          </a:prstGeom>
          <a:noFill/>
          <a:ln/>
        </p:spPr>
        <p:txBody>
          <a:bodyPr wrap="square" lIns="25400" tIns="25400" rIns="25400" bIns="25400" rtlCol="0" anchor="t">
            <a:normAutofit/>
          </a:bodyPr>
          <a:lstStyle/>
          <a:p>
            <a:pPr algn="l" indent="0" marL="0">
              <a:buNone/>
            </a:pPr>
            <a:r>
              <a:rPr lang="en-US" sz="2550" spc="51" kern="0" dirty="0">
                <a:solidFill>
                  <a:srgbClr val="C9C9CF"/>
                </a:solidFill>
                <a:latin typeface="Space Mono" pitchFamily="34" charset="0"/>
                <a:ea typeface="Space Mono" pitchFamily="34" charset="-122"/>
                <a:cs typeface="Space Mono" pitchFamily="34" charset="-120"/>
              </a:rPr>
              <a:t>Questions &amp; démo live</a:t>
            </a:r>
            <a:endParaRPr lang="en-US" sz="2550" dirty="0"/>
          </a:p>
        </p:txBody>
      </p:sp>
      <p:sp>
        <p:nvSpPr>
          <p:cNvPr id="7" name="Text 5"/>
          <p:cNvSpPr/>
          <p:nvPr/>
        </p:nvSpPr>
        <p:spPr>
          <a:xfrm>
            <a:off x="1028700" y="9158288"/>
            <a:ext cx="834033" cy="404813"/>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Space Mono" pitchFamily="34" charset="0"/>
                <a:ea typeface="Space Mono" pitchFamily="34" charset="-122"/>
                <a:cs typeface="Space Mono" pitchFamily="34" charset="-120"/>
              </a:rPr>
              <a:t>COT_1</a:t>
            </a:r>
            <a:endParaRPr lang="en-US" sz="1950" dirty="0"/>
          </a:p>
        </p:txBody>
      </p:sp>
      <p:sp>
        <p:nvSpPr>
          <p:cNvPr id="8" name="Text 6"/>
          <p:cNvSpPr/>
          <p:nvPr/>
        </p:nvSpPr>
        <p:spPr>
          <a:xfrm>
            <a:off x="11499949" y="9158288"/>
            <a:ext cx="6335286" cy="404813"/>
          </a:xfrm>
          <a:prstGeom prst="rect">
            <a:avLst/>
          </a:prstGeom>
          <a:noFill/>
          <a:ln/>
        </p:spPr>
        <p:txBody>
          <a:bodyPr wrap="square" lIns="25400" tIns="25400" rIns="25400" bIns="25400" rtlCol="0" anchor="t">
            <a:normAutofit/>
          </a:bodyPr>
          <a:lstStyle/>
          <a:p>
            <a:pPr algn="l" indent="0" marL="0">
              <a:buNone/>
            </a:pPr>
            <a:r>
              <a:rPr lang="en-US" sz="1950" dirty="0">
                <a:solidFill>
                  <a:srgbClr val="9A9AA0"/>
                </a:solidFill>
                <a:latin typeface="Space Mono" pitchFamily="34" charset="0"/>
                <a:ea typeface="Space Mono" pitchFamily="34" charset="-122"/>
                <a:cs typeface="Space Mono" pitchFamily="34" charset="-120"/>
              </a:rPr>
              <a:t>KUBEQUEST · Sailing through the clouds</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2026-06-26T07:52:30Z</dcterms:created>
  <dcterms:modified xsi:type="dcterms:W3CDTF">2026-06-26T07:52:30Z</dcterms:modified>
</cp:coreProperties>
</file>